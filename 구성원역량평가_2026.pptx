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  <p:sldMasterId id="2147483664" r:id="rId2"/>
    <p:sldMasterId id="2147483666" r:id="rId3"/>
    <p:sldMasterId id="2147483668" r:id="rId4"/>
    <p:sldMasterId id="2147483682" r:id="rId5"/>
    <p:sldMasterId id="2147483686" r:id="rId6"/>
    <p:sldMasterId id="2147483689" r:id="rId7"/>
    <p:sldMasterId id="2147483694" r:id="rId8"/>
    <p:sldMasterId id="2147483696" r:id="rId9"/>
    <p:sldMasterId id="2147483699" r:id="rId10"/>
    <p:sldMasterId id="2147483701" r:id="rId11"/>
    <p:sldMasterId id="2147483704" r:id="rId12"/>
  </p:sldMasterIdLst>
  <p:sldIdLst>
    <p:sldId id="257" r:id="rId13"/>
    <p:sldId id="258" r:id="rId14"/>
    <p:sldId id="259" r:id="rId20"/>
    <p:sldId id="260" r:id="rId19"/>
    <p:sldId id="261" r:id="rId18"/>
    <p:sldId id="262" r:id="rId17"/>
    <p:sldId id="263" r:id="rId16"/>
    <p:sldId id="264" r:id="rId15"/>
  </p:sldIdLst>
  <p:sldSz cx="12192000" cy="6858000"/>
  <p:notesSz cx="6858000" cy="9144000"/>
  <p:embeddedFontLst>
    <p:embeddedFont>
      <p:font typeface="굴림" panose="020B0600000101010101" pitchFamily="34" charset="-127"/>
      <p:regular r:id="rId21"/>
    </p:embeddedFont>
    <p:embeddedFont>
      <p:font typeface="맑은 고딕" panose="020B0503020000020004" pitchFamily="34" charset="-127"/>
      <p:regular r:id="rId22"/>
      <p:bold r:id="rId23"/>
    </p:embeddedFont>
    <p:embeddedFont>
      <p:font typeface="Tahoma" panose="020B0604030504040204" pitchFamily="34" charset="0"/>
      <p:regular r:id="rId24"/>
      <p:bold r:id="rId25"/>
    </p:embeddedFont>
    <p:embeddedFont>
      <p:font typeface="Trebuchet MS" panose="020B0703020202090204" pitchFamily="34" charset="0"/>
      <p:regular r:id="rId26"/>
      <p:bold r:id="rId27"/>
      <p:italic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04"/>
    <p:restoredTop sz="94658"/>
  </p:normalViewPr>
  <p:slideViewPr>
    <p:cSldViewPr snapToGrid="0">
      <p:cViewPr varScale="1">
        <p:scale>
          <a:sx n="93" d="100"/>
          <a:sy n="93" d="100"/>
        </p:scale>
        <p:origin x="224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8.xml"/><Relationship Id="rId16" Type="http://schemas.openxmlformats.org/officeDocument/2006/relationships/slide" Target="slides/slide7.xml"/><Relationship Id="rId17" Type="http://schemas.openxmlformats.org/officeDocument/2006/relationships/slide" Target="slides/slide6.xml"/><Relationship Id="rId18" Type="http://schemas.openxmlformats.org/officeDocument/2006/relationships/slide" Target="slides/slide5.xml"/><Relationship Id="rId19" Type="http://schemas.openxmlformats.org/officeDocument/2006/relationships/slide" Target="slides/slide4.xml"/><Relationship Id="rId20" Type="http://schemas.openxmlformats.org/officeDocument/2006/relationships/slide" Target="slides/slide3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Relationship Id="rId27" Type="http://schemas.openxmlformats.org/officeDocument/2006/relationships/font" Target="fonts/font7.fntdata"/><Relationship Id="rId28" Type="http://schemas.openxmlformats.org/officeDocument/2006/relationships/font" Target="fonts/font8.fntdata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커밋 수</c:v>
                </c:pt>
              </c:strCache>
            </c:strRef>
          </c:tx>
          <c:spPr>
            <a:solidFill>
              <a:srgbClr val="A6A6A6"/>
            </a:solidFill>
          </c:spPr>
          <c:dPt>
            <c:idx val="4"/>
            <c:spPr>
              <a:solidFill>
                <a:srgbClr val="2D2D8A"/>
              </a:solidFill>
            </c:spPr>
          </c:dPt>
          <c:cat>
            <c:strRef>
              <c:f>Sheet1!$A$2:$A$7</c:f>
              <c:strCache>
                <c:ptCount val="6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  <c:pt idx="3">
                  <c:v>7월</c:v>
                </c:pt>
                <c:pt idx="4">
                  <c:v>8월</c:v>
                </c:pt>
                <c:pt idx="5">
                  <c:v>9월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7</c:v>
                </c:pt>
                <c:pt idx="2">
                  <c:v>4</c:v>
                </c:pt>
                <c:pt idx="3">
                  <c:v>6</c:v>
                </c:pt>
                <c:pt idx="4">
                  <c:v>13</c:v>
                </c:pt>
                <c:pt idx="5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40404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>
                <a:solidFill>
                  <a:srgbClr val="40404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5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3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5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5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3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3" Type="http://schemas.openxmlformats.org/officeDocument/2006/relationships/image" Target="../media/image1.png"/><Relationship Id="rId4" Type="http://schemas.openxmlformats.org/officeDocument/2006/relationships/oleObject" Target="../embeddings/oleObject7.bin"/><Relationship Id="rId5" Type="http://schemas.openxmlformats.org/officeDocument/2006/relationships/image" Target="../media/image2.png"/><Relationship Id="rId2" Type="http://schemas.openxmlformats.org/officeDocument/2006/relationships/oleObject" Target="../embeddings/oleObject7.bin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153738"/>
              </p:ext>
            </p:extLst>
          </p:nvPr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5701587" imgH="6679365" progId="">
                  <p:embed/>
                </p:oleObj>
              </mc:Choice>
              <mc:Fallback>
                <p:oleObj name="Image" r:id="rId2" imgW="5701587" imgH="6679365" progId="">
                  <p:embed/>
                  <p:pic>
                    <p:nvPicPr>
                      <p:cNvPr id="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3971050"/>
              </p:ext>
            </p:extLst>
          </p:nvPr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5650794" imgH="4749206" progId="">
                  <p:embed/>
                </p:oleObj>
              </mc:Choice>
              <mc:Fallback>
                <p:oleObj name="Image" r:id="rId4" imgW="5650794" imgH="4749206" progId="">
                  <p:embed/>
                  <p:pic>
                    <p:nvPicPr>
                      <p:cNvPr id="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22"/>
          <p:cNvSpPr>
            <a:spLocks noChangeShapeType="1"/>
          </p:cNvSpPr>
          <p:nvPr/>
        </p:nvSpPr>
        <p:spPr bwMode="auto">
          <a:xfrm>
            <a:off x="302144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549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5326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CED35-8F4E-66FA-99E8-781F8E230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0C4843-6D02-0247-4DFF-F431EE220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DD2D0D-DF1D-B38E-D340-BF019B81C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4DA7-71AC-9645-9DBA-B602BE83BCA4}" type="datetimeFigureOut">
              <a:rPr kumimoji="1" lang="ko-KR" altLang="en-US" smtClean="0"/>
              <a:t>2026. 6. 22.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E4E364-D706-3ED1-EEBD-7BBDA8CFC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2364E2-06B6-9F43-9C97-CCA5415C7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5DC27-F0E4-4646-8443-3C7EDA1162A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0829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255790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CED35-8F4E-66FA-99E8-781F8E230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0C4843-6D02-0247-4DFF-F431EE220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DD2D0D-DF1D-B38E-D340-BF019B81C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4DA7-71AC-9645-9DBA-B602BE83BCA4}" type="datetimeFigureOut">
              <a:rPr kumimoji="1" lang="ko-KR" altLang="en-US" smtClean="0"/>
              <a:t>2026. 6. 22.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E4E364-D706-3ED1-EEBD-7BBDA8CFC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2364E2-06B6-9F43-9C97-CCA5415C7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5DC27-F0E4-4646-8443-3C7EDA1162A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2935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750929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883F4-062E-4DC2-838B-C6392D451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82F6F4-4E9C-4115-880D-71A4C4FA0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024C9D-6955-4BFF-B925-74E1CB451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1F981E-A06F-481D-B5A5-9841A9F4A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DAE3CC-359D-4C60-8C0B-A94FEECB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224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8AA01-4475-47D8-8696-D5756AEC5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A5F7CF-56CC-4A8F-B5B3-F82234C13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185193-704F-4E51-BC85-09A129DF4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83BEE9-998F-4896-BBB3-604430EF5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1F6E72-BB17-4A69-A6F9-EBF3011A8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6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1C117D-44A0-44ED-A4CC-48A0DB995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339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1DCC8F-B626-4050-85D2-569B81407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339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32EC3A-75C9-4AC2-AE2B-20F982BBA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8DE3D5-5957-499F-8B39-A7836B9A3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7D1F12-50B3-43DD-A973-C61522BA0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818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19C47E-293B-42C4-9627-BF9130D78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4CB6C1-979B-41E0-A41F-570EAD9810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64015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90596C-EF17-4804-AD4E-E2CD60542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9785" y="1825625"/>
            <a:ext cx="5164016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652D47-6DE3-4FE8-BFD0-38F4B2C35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901EA3-F6A6-4580-A192-DFFFEADE4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69FF03-240C-4E04-9481-6E1CE1EC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295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164B6E-52F0-4291-8E39-AA309D5E7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54" y="365126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0106CC-CFE4-4924-8B5F-2926D0A0B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154" y="1681163"/>
            <a:ext cx="515815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E91807-65D1-40F9-A4B5-F46623939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154" y="2505075"/>
            <a:ext cx="5158154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3481B5-FA37-40BA-8A32-9F0C4FBE2A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55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04CB35-162F-4B6D-99CF-EF2A844C42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553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E415F3-6F74-4E38-9D4C-F5CA087F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EDFE833-2DD8-4C8B-9BD0-2A3A6678B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02B053-DC56-4169-B566-077AA7B0D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410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596748-42D3-43BB-977B-FCB4DF641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CFB7ED-9CA8-4921-9D7B-A8352688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C37D94-4771-4C2D-937E-51D4B4980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3B1365-B7C9-4DFD-A06C-9D37D8131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893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B0D7F0-96B5-4B76-BB49-57800F5CC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CBBCEB4-E9E6-4121-A6D6-60DFC65FF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ACD649-AC13-41A8-9AF6-8F5D86C6D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4817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C7182A-4F0A-4F38-897E-512C8F4BB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54" y="457200"/>
            <a:ext cx="39311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893437-0420-4398-AC10-A8AA3FE00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555" y="987426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C44AE2-426E-4FDE-A945-664889166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154" y="2057400"/>
            <a:ext cx="39311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F63EE8-9885-47A5-990C-2214739D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98C90A-6ED8-4334-B0DA-14DC2721B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A541FD-2466-453D-B1EF-4F1297FA8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753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5E985-734F-461A-BF01-E3D6C2F26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54" y="457200"/>
            <a:ext cx="39311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0AC94C1-BD17-437E-9B50-4B191513DE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555" y="987426"/>
            <a:ext cx="6172199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CB4D8F-5840-433F-9D6A-9C28B2E3E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154" y="2057400"/>
            <a:ext cx="39311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F3ADCD-F06D-4DA2-8E83-029DCDC8D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E2CD31-E778-4D34-ABD4-71D305D26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57C667-192B-4A34-BEEE-BC51367A7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3568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668E05-77DB-44CF-A093-CFDBDCB85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03162A-1B3C-4379-9A7C-575FFFEE4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9A2A1-E74F-47D7-A13D-E9AF8CC9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92E41A-948F-4308-BC55-2A1DFB978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892294-82CE-41CD-B656-24530522F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2268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B4E92C-5DB6-4011-A7C6-5EA7D0507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5877" y="365125"/>
            <a:ext cx="2627924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57DC43-2687-4192-AE96-E9766B01C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00107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848375-4B6F-45EE-9B25-C646194A6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84CC7A-F75E-46C7-8D13-837A855B7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F90010-E325-423B-8DC2-6EFE4B34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1708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42605040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7467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79B1F47-2AAC-0BF2-5B9D-46D6C6E1B27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04" imgH="405" progId="TCLayout.ActiveDocument.1">
                  <p:embed/>
                </p:oleObj>
              </mc:Choice>
              <mc:Fallback>
                <p:oleObj name="think-cell 슬라이드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9B1F47-2AAC-0BF2-5B9D-46D6C6E1B2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Tahoma" panose="020B060403050404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Tahoma" panose="020B060403050404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Tahoma" panose="020B0604030504040204" pitchFamily="34" charset="0"/>
              </a:defRPr>
            </a:lvl3pPr>
          </a:lstStyle>
          <a:p>
            <a:pPr lvl="0"/>
            <a:r>
              <a:rPr lang="ko-KR" altLang="en-US"/>
              <a:t>수준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(12pt)</a:t>
            </a:r>
            <a:endParaRPr lang="ko-KR" altLang="en-US"/>
          </a:p>
          <a:p>
            <a:pPr lvl="1"/>
            <a:r>
              <a:rPr lang="ko-KR" altLang="en-US"/>
              <a:t>수준</a:t>
            </a:r>
            <a:r>
              <a:rPr lang="en-US" altLang="ko-KR"/>
              <a:t>2 (10.5pt / </a:t>
            </a:r>
            <a:r>
              <a:rPr lang="ko-KR" altLang="en-US"/>
              <a:t>수준</a:t>
            </a:r>
            <a:r>
              <a:rPr lang="en-US" altLang="ko-KR"/>
              <a:t>1</a:t>
            </a:r>
            <a:r>
              <a:rPr lang="ko-KR" altLang="en-US"/>
              <a:t>로 복귀는 </a:t>
            </a:r>
            <a:r>
              <a:rPr lang="en-US" altLang="ko-KR"/>
              <a:t>Shift + Tab / </a:t>
            </a:r>
            <a:r>
              <a:rPr lang="ko-KR" altLang="en-US"/>
              <a:t>수준</a:t>
            </a:r>
            <a:r>
              <a:rPr lang="en-US" altLang="ko-KR"/>
              <a:t>3</a:t>
            </a:r>
            <a:r>
              <a:rPr lang="ko-KR" altLang="en-US"/>
              <a:t>은 </a:t>
            </a:r>
            <a:r>
              <a:rPr lang="en-US" altLang="ko-KR"/>
              <a:t>Tab)</a:t>
            </a:r>
            <a:r>
              <a:rPr lang="ko-KR" altLang="en-US"/>
              <a:t> </a:t>
            </a:r>
          </a:p>
          <a:p>
            <a:pPr lvl="2"/>
            <a:r>
              <a:rPr lang="ko-KR" altLang="en-US"/>
              <a:t>수준</a:t>
            </a:r>
            <a:r>
              <a:rPr lang="en-US" altLang="ko-KR"/>
              <a:t>3 (10pt / </a:t>
            </a:r>
            <a:r>
              <a:rPr lang="ko-KR" altLang="en-US"/>
              <a:t>수준</a:t>
            </a:r>
            <a:r>
              <a:rPr lang="en-US" altLang="ko-KR"/>
              <a:t>2</a:t>
            </a:r>
            <a:r>
              <a:rPr lang="ko-KR" altLang="en-US"/>
              <a:t>로 복귀는 </a:t>
            </a:r>
            <a:r>
              <a:rPr lang="en-US" altLang="ko-KR"/>
              <a:t>Shift + Tab)</a:t>
            </a:r>
          </a:p>
          <a:p>
            <a:pPr lvl="0"/>
            <a:r>
              <a:rPr lang="ko-KR" altLang="en-US"/>
              <a:t>수준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(12pt)</a:t>
            </a:r>
            <a:endParaRPr lang="ko-KR" altLang="en-US"/>
          </a:p>
          <a:p>
            <a:pPr lvl="1"/>
            <a:r>
              <a:rPr lang="ko-KR" altLang="en-US"/>
              <a:t>수준</a:t>
            </a:r>
            <a:r>
              <a:rPr lang="en-US" altLang="ko-KR"/>
              <a:t>2 (10.5pt / </a:t>
            </a:r>
            <a:r>
              <a:rPr lang="ko-KR" altLang="en-US"/>
              <a:t>수준</a:t>
            </a:r>
            <a:r>
              <a:rPr lang="en-US" altLang="ko-KR"/>
              <a:t>1</a:t>
            </a:r>
            <a:r>
              <a:rPr lang="ko-KR" altLang="en-US"/>
              <a:t>로 복귀는 </a:t>
            </a:r>
            <a:r>
              <a:rPr lang="en-US" altLang="ko-KR"/>
              <a:t>Shift + Tab / </a:t>
            </a:r>
            <a:r>
              <a:rPr lang="ko-KR" altLang="en-US"/>
              <a:t>수준</a:t>
            </a:r>
            <a:r>
              <a:rPr lang="en-US" altLang="ko-KR"/>
              <a:t>3</a:t>
            </a:r>
            <a:r>
              <a:rPr lang="ko-KR" altLang="en-US"/>
              <a:t>은 </a:t>
            </a:r>
            <a:r>
              <a:rPr lang="en-US" altLang="ko-KR"/>
              <a:t>Tab)</a:t>
            </a:r>
            <a:r>
              <a:rPr lang="ko-KR" altLang="en-US"/>
              <a:t> </a:t>
            </a:r>
          </a:p>
          <a:p>
            <a:pPr lvl="2"/>
            <a:r>
              <a:rPr lang="ko-KR" altLang="en-US"/>
              <a:t>수준</a:t>
            </a:r>
            <a:r>
              <a:rPr lang="en-US" altLang="ko-KR"/>
              <a:t>3 (10pt / </a:t>
            </a:r>
            <a:r>
              <a:rPr lang="ko-KR" altLang="en-US"/>
              <a:t>수준</a:t>
            </a:r>
            <a:r>
              <a:rPr lang="en-US" altLang="ko-KR"/>
              <a:t>2</a:t>
            </a:r>
            <a:r>
              <a:rPr lang="ko-KR" altLang="en-US"/>
              <a:t>로 복귀는 </a:t>
            </a:r>
            <a:r>
              <a:rPr lang="en-US" altLang="ko-KR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33614012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BADD898-4407-401F-A8D8-41649E783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73" imgH="473" progId="TCLayout.ActiveDocument.1">
                  <p:embed/>
                </p:oleObj>
              </mc:Choice>
              <mc:Fallback>
                <p:oleObj name="think-cell 슬라이드" r:id="rId3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BADD898-4407-401F-A8D8-41649E783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E14BF5F8-DD19-4838-810E-0E05E36020E7}"/>
              </a:ext>
            </a:extLst>
          </p:cNvPr>
          <p:cNvSpPr/>
          <p:nvPr/>
        </p:nvSpPr>
        <p:spPr>
          <a:xfrm>
            <a:off x="0" y="15628"/>
            <a:ext cx="12192000" cy="6842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8507" tIns="58507" rIns="58507" bIns="58507" rtlCol="0" anchor="t"/>
          <a:lstStyle/>
          <a:p>
            <a:pPr algn="l">
              <a:lnSpc>
                <a:spcPct val="90000"/>
              </a:lnSpc>
            </a:pPr>
            <a:endParaRPr lang="ko-KR" altLang="en-US" sz="1138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FE4EFB-265F-4479-9DDA-E62306D56945}"/>
              </a:ext>
            </a:extLst>
          </p:cNvPr>
          <p:cNvSpPr/>
          <p:nvPr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8500" tIns="58500" rIns="58500" bIns="58500" rtlCol="0" anchor="t"/>
          <a:lstStyle/>
          <a:p>
            <a:pPr algn="l"/>
            <a:endParaRPr lang="en-GB" sz="894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AF962D-33A0-4B8E-B6A5-AA4595ED3C62}"/>
              </a:ext>
            </a:extLst>
          </p:cNvPr>
          <p:cNvSpPr txBox="1"/>
          <p:nvPr/>
        </p:nvSpPr>
        <p:spPr>
          <a:xfrm>
            <a:off x="11624733" y="6381330"/>
            <a:ext cx="373593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r" latinLnBrk="0">
              <a:lnSpc>
                <a:spcPct val="90000"/>
              </a:lnSpc>
            </a:pPr>
            <a:fld id="{6CE8C368-3382-4C28-AE75-DF7C05ACA19D}" type="slidenum">
              <a:rPr lang="en-US" sz="813" b="0">
                <a:solidFill>
                  <a:schemeClr val="tx1">
                    <a:lumMod val="10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pPr algn="r" latinLnBrk="0">
                <a:lnSpc>
                  <a:spcPct val="90000"/>
                </a:lnSpc>
              </a:pPr>
              <a:t>‹#›</a:t>
            </a:fld>
            <a:endParaRPr lang="en-US" sz="813" b="0">
              <a:solidFill>
                <a:schemeClr val="tx1">
                  <a:lumMod val="10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22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226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6AC7705-11B4-24F6-0342-029B2F1A59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04" imgH="405" progId="TCLayout.ActiveDocument.1">
                  <p:embed/>
                </p:oleObj>
              </mc:Choice>
              <mc:Fallback>
                <p:oleObj name="think-cell 슬라이드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AC7705-11B4-24F6-0342-029B2F1A59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8339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10945342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3277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CED35-8F4E-66FA-99E8-781F8E230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0C4843-6D02-0247-4DFF-F431EE220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DD2D0D-DF1D-B38E-D340-BF019B81C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4DA7-71AC-9645-9DBA-B602BE83BCA4}" type="datetimeFigureOut">
              <a:rPr kumimoji="1" lang="ko-KR" altLang="en-US" smtClean="0"/>
              <a:t>2026. 6. 22.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E4E364-D706-3ED1-EEBD-7BBDA8CFC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2364E2-06B6-9F43-9C97-CCA5415C7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5DC27-F0E4-4646-8443-3C7EDA1162A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622503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32865873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3124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2">
            <a:extLst>
              <a:ext uri="{FF2B5EF4-FFF2-40B4-BE49-F238E27FC236}">
                <a16:creationId xmlns:a16="http://schemas.microsoft.com/office/drawing/2014/main" id="{B59AC3B3-1AD7-2701-EEED-FD3EFA49E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2" y="156568"/>
            <a:ext cx="11520000" cy="360000"/>
          </a:xfrm>
          <a:prstGeom prst="rect">
            <a:avLst/>
          </a:prstGeom>
        </p:spPr>
        <p:txBody>
          <a:bodyPr lIns="36000" tIns="36000" rIns="36000" bIns="36000" anchor="t">
            <a:noAutofit/>
          </a:bodyPr>
          <a:lstStyle>
            <a:lvl1pPr algn="l" defTabSz="914400" rtl="0" eaLnBrk="1" latinLnBrk="0" hangingPunct="0">
              <a:lnSpc>
                <a:spcPct val="100000"/>
              </a:lnSpc>
              <a:spcBef>
                <a:spcPct val="0"/>
              </a:spcBef>
              <a:buNone/>
              <a:defRPr lang="en-US" sz="1800" b="1" kern="1200" dirty="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텍스트 개체 틀 5">
            <a:extLst>
              <a:ext uri="{FF2B5EF4-FFF2-40B4-BE49-F238E27FC236}">
                <a16:creationId xmlns:a16="http://schemas.microsoft.com/office/drawing/2014/main" id="{2416981E-2E6F-0D84-E05D-D932FF516E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000" y="6381750"/>
            <a:ext cx="11520000" cy="252000"/>
          </a:xfrm>
          <a:prstGeom prst="rect">
            <a:avLst/>
          </a:prstGeom>
          <a:solidFill>
            <a:schemeClr val="bg1"/>
          </a:solidFill>
        </p:spPr>
        <p:txBody>
          <a:bodyPr lIns="36000" tIns="0" rIns="36000" bIns="0" anchor="t">
            <a:noAutofit/>
          </a:bodyPr>
          <a:lstStyle>
            <a:lvl1pPr latinLnBrk="0">
              <a:defRPr lang="en-US" altLang="ko-KR" sz="800" b="0" kern="1200" dirty="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defRPr>
            </a:lvl1pPr>
          </a:lstStyle>
          <a:p>
            <a:pPr lvl="0" defTabSz="914400" eaLnBrk="1">
              <a:lnSpc>
                <a:spcPct val="100000"/>
              </a:lnSpc>
              <a:spcBef>
                <a:spcPct val="0"/>
              </a:spcBef>
              <a:buNone/>
            </a:pPr>
            <a:r>
              <a:rPr lang="ko-KR" altLang="en-US"/>
              <a:t>각주 </a:t>
            </a:r>
            <a:r>
              <a:rPr lang="en-US" altLang="ko-KR"/>
              <a:t>/ 8pt</a:t>
            </a:r>
          </a:p>
        </p:txBody>
      </p:sp>
      <p:sp>
        <p:nvSpPr>
          <p:cNvPr id="14" name="Content Placeholder 24">
            <a:extLst>
              <a:ext uri="{FF2B5EF4-FFF2-40B4-BE49-F238E27FC236}">
                <a16:creationId xmlns:a16="http://schemas.microsoft.com/office/drawing/2014/main" id="{5B32F67F-E7FE-F85E-5F72-FEE2953C0B3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35362" y="587805"/>
            <a:ext cx="11520000" cy="7920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en-US" sz="1600" b="1" kern="120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+mj-lt"/>
                <a:ea typeface="+mn-ea"/>
                <a:cs typeface="Samsung Sharp Sans Medium" pitchFamily="2" charset="0"/>
              </a:defRPr>
            </a:lvl1pPr>
          </a:lstStyle>
          <a:p>
            <a:pPr marL="0" lvl="0" indent="0" algn="l" defTabSz="685594" rtl="0" eaLnBrk="1" latinLnBrk="1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Sub-Header (if necessary)</a:t>
            </a:r>
          </a:p>
        </p:txBody>
      </p:sp>
      <p:sp>
        <p:nvSpPr>
          <p:cNvPr id="4" name="모서리가 둥근 직사각형 49">
            <a:extLst>
              <a:ext uri="{FF2B5EF4-FFF2-40B4-BE49-F238E27FC236}">
                <a16:creationId xmlns:a16="http://schemas.microsoft.com/office/drawing/2014/main" id="{5E57CD2D-334A-1099-B141-BF20DD3E8660}"/>
              </a:ext>
            </a:extLst>
          </p:cNvPr>
          <p:cNvSpPr/>
          <p:nvPr/>
        </p:nvSpPr>
        <p:spPr bwMode="auto">
          <a:xfrm rot="5400000">
            <a:off x="-535301" y="2477629"/>
            <a:ext cx="456131" cy="286228"/>
          </a:xfrm>
          <a:prstGeom prst="roundRect">
            <a:avLst>
              <a:gd name="adj" fmla="val 0"/>
            </a:avLst>
          </a:prstGeom>
          <a:solidFill>
            <a:schemeClr val="accent5">
              <a:lumMod val="9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 latinLnBrk="0"/>
            <a:endParaRPr lang="ko-KR" altLang="en-US" sz="1200" b="1">
              <a:solidFill>
                <a:srgbClr val="000000"/>
              </a:solidFill>
              <a:latin typeface="Tahoma" panose="020B060403050404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5" name="모서리가 둥근 직사각형 49">
            <a:extLst>
              <a:ext uri="{FF2B5EF4-FFF2-40B4-BE49-F238E27FC236}">
                <a16:creationId xmlns:a16="http://schemas.microsoft.com/office/drawing/2014/main" id="{E2BF8DAF-FDC3-81DB-E3D4-458B411AEA86}"/>
              </a:ext>
            </a:extLst>
          </p:cNvPr>
          <p:cNvSpPr/>
          <p:nvPr/>
        </p:nvSpPr>
        <p:spPr bwMode="auto">
          <a:xfrm rot="5400000">
            <a:off x="-535301" y="2979975"/>
            <a:ext cx="456131" cy="286228"/>
          </a:xfrm>
          <a:prstGeom prst="roundRect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 latinLnBrk="0"/>
            <a:endParaRPr lang="ko-KR" altLang="en-US" sz="1200" b="1">
              <a:solidFill>
                <a:srgbClr val="000000"/>
              </a:solidFill>
              <a:latin typeface="Tahoma" panose="020B060403050404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6" name="모서리가 둥근 직사각형 49">
            <a:extLst>
              <a:ext uri="{FF2B5EF4-FFF2-40B4-BE49-F238E27FC236}">
                <a16:creationId xmlns:a16="http://schemas.microsoft.com/office/drawing/2014/main" id="{065EED8F-4C31-8284-AE60-32C47B662D31}"/>
              </a:ext>
            </a:extLst>
          </p:cNvPr>
          <p:cNvSpPr/>
          <p:nvPr/>
        </p:nvSpPr>
        <p:spPr bwMode="auto">
          <a:xfrm rot="5400000">
            <a:off x="-535301" y="3482321"/>
            <a:ext cx="456131" cy="28622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 latinLnBrk="0"/>
            <a:endParaRPr lang="ko-KR" altLang="en-US" sz="1200" b="1">
              <a:solidFill>
                <a:srgbClr val="000000"/>
              </a:solidFill>
              <a:latin typeface="Tahoma" panose="020B060403050404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8" name="모서리가 둥근 직사각형 49">
            <a:extLst>
              <a:ext uri="{FF2B5EF4-FFF2-40B4-BE49-F238E27FC236}">
                <a16:creationId xmlns:a16="http://schemas.microsoft.com/office/drawing/2014/main" id="{347D6DD8-FDF8-086A-C2B2-222FFDC59C34}"/>
              </a:ext>
            </a:extLst>
          </p:cNvPr>
          <p:cNvSpPr/>
          <p:nvPr/>
        </p:nvSpPr>
        <p:spPr bwMode="auto">
          <a:xfrm rot="5400000">
            <a:off x="-535301" y="3984667"/>
            <a:ext cx="456131" cy="286228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 latinLnBrk="0"/>
            <a:endParaRPr lang="ko-KR" altLang="en-US" sz="1200" b="1">
              <a:solidFill>
                <a:srgbClr val="000000"/>
              </a:solidFill>
              <a:latin typeface="Tahoma" panose="020B060403050404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9" name="모서리가 둥근 직사각형 49">
            <a:extLst>
              <a:ext uri="{FF2B5EF4-FFF2-40B4-BE49-F238E27FC236}">
                <a16:creationId xmlns:a16="http://schemas.microsoft.com/office/drawing/2014/main" id="{37FDDBCA-6DB7-59DF-D4D5-DCE478BFF25A}"/>
              </a:ext>
            </a:extLst>
          </p:cNvPr>
          <p:cNvSpPr/>
          <p:nvPr/>
        </p:nvSpPr>
        <p:spPr bwMode="auto">
          <a:xfrm rot="5400000">
            <a:off x="-535301" y="4487013"/>
            <a:ext cx="456131" cy="286228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 latinLnBrk="0"/>
            <a:endParaRPr lang="ko-KR" altLang="en-US" sz="1200" b="1">
              <a:solidFill>
                <a:srgbClr val="000000"/>
              </a:solidFill>
              <a:latin typeface="Tahoma" panose="020B060403050404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0" name="모서리가 둥근 직사각형 49">
            <a:extLst>
              <a:ext uri="{FF2B5EF4-FFF2-40B4-BE49-F238E27FC236}">
                <a16:creationId xmlns:a16="http://schemas.microsoft.com/office/drawing/2014/main" id="{53E797CE-CE54-066E-E2A8-07B2BF64A7E8}"/>
              </a:ext>
            </a:extLst>
          </p:cNvPr>
          <p:cNvSpPr/>
          <p:nvPr/>
        </p:nvSpPr>
        <p:spPr bwMode="auto">
          <a:xfrm rot="5400000">
            <a:off x="-535302" y="1975283"/>
            <a:ext cx="456131" cy="286228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 latinLnBrk="0"/>
            <a:endParaRPr lang="ko-KR" altLang="en-US" sz="1200" b="1">
              <a:solidFill>
                <a:srgbClr val="000000"/>
              </a:solidFill>
              <a:latin typeface="Tahoma" panose="020B060403050404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3328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172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4020">
          <p15:clr>
            <a:srgbClr val="FBAE40"/>
          </p15:clr>
        </p15:guide>
        <p15:guide id="6" orient="horz" pos="4178">
          <p15:clr>
            <a:srgbClr val="FBAE40"/>
          </p15:clr>
        </p15:guide>
        <p15:guide id="7" orient="horz" pos="867">
          <p15:clr>
            <a:srgbClr val="FBAE40"/>
          </p15:clr>
        </p15:guide>
        <p15:guide id="8" orient="horz" pos="935">
          <p15:clr>
            <a:srgbClr val="FBAE40"/>
          </p15:clr>
        </p15:guide>
        <p15:guide id="9" orient="horz" pos="368">
          <p15:clr>
            <a:srgbClr val="FBAE40"/>
          </p15:clr>
        </p15:guide>
        <p15:guide id="10" orient="horz" pos="323">
          <p15:clr>
            <a:srgbClr val="FBAE40"/>
          </p15:clr>
        </p15:guide>
        <p15:guide id="11" orient="horz" pos="96">
          <p15:clr>
            <a:srgbClr val="FBAE40"/>
          </p15:clr>
        </p15:guide>
        <p15:guide id="12" orient="horz" pos="395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11888469" y="6654552"/>
            <a:ext cx="27576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latinLnBrk="0" hangingPunct="0">
              <a:spcBef>
                <a:spcPct val="45000"/>
              </a:spcBef>
              <a:defRPr/>
            </a:pPr>
            <a:r>
              <a:rPr kumimoji="0" lang="en-US" altLang="ko-KR" sz="80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fld id="{3C9FA4B4-D45C-4644-8044-F085C812C4DB}" type="slidenum">
              <a:rPr kumimoji="0" lang="en-US" altLang="ko-KR" sz="800" i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spcBef>
                  <a:spcPct val="45000"/>
                </a:spcBef>
                <a:defRPr/>
              </a:pPr>
              <a:t>‹#›</a:t>
            </a:fld>
            <a:endParaRPr kumimoji="0" lang="en-US" altLang="ko-KR" sz="800" i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92769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4002985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28439137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1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5701587" imgH="6679365" progId="">
                  <p:embed/>
                </p:oleObj>
              </mc:Choice>
              <mc:Fallback>
                <p:oleObj name="Image" r:id="rId2" imgW="5701587" imgH="6679365" progId="">
                  <p:embed/>
                  <p:pic>
                    <p:nvPicPr>
                      <p:cNvPr id="1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5650794" imgH="4749206" progId="">
                  <p:embed/>
                </p:oleObj>
              </mc:Choice>
              <mc:Fallback>
                <p:oleObj name="Image" r:id="rId4" imgW="5650794" imgH="4749206" progId="">
                  <p:embed/>
                  <p:pic>
                    <p:nvPicPr>
                      <p:cNvPr id="1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5066052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3857161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5957" indent="-215957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3935" indent="-107978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7906" indent="-90470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41505795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8617" y="2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09" tIns="45705" rIns="91409" bIns="4570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4" name="Object 20"/>
          <p:cNvGraphicFramePr>
            <a:graphicFrameLocks noChangeAspect="1"/>
          </p:cNvGraphicFramePr>
          <p:nvPr/>
        </p:nvGraphicFramePr>
        <p:xfrm>
          <a:off x="3985846" y="2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5701587" imgH="6679365" progId="">
                  <p:embed/>
                </p:oleObj>
              </mc:Choice>
              <mc:Fallback>
                <p:oleObj name="Image" r:id="rId2" imgW="5701587" imgH="6679365" progId="">
                  <p:embed/>
                  <p:pic>
                    <p:nvPicPr>
                      <p:cNvPr id="1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2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1"/>
          <p:cNvGraphicFramePr>
            <a:graphicFrameLocks noChangeAspect="1"/>
          </p:cNvGraphicFramePr>
          <p:nvPr/>
        </p:nvGraphicFramePr>
        <p:xfrm>
          <a:off x="6828693" y="2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5650794" imgH="4749206" progId="">
                  <p:embed/>
                </p:oleObj>
              </mc:Choice>
              <mc:Fallback>
                <p:oleObj name="Image" r:id="rId4" imgW="5650794" imgH="4749206" progId="">
                  <p:embed/>
                  <p:pic>
                    <p:nvPicPr>
                      <p:cNvPr id="1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2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54170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5360" y="1715441"/>
            <a:ext cx="5538462" cy="168251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 latinLnBrk="0">
              <a:lnSpc>
                <a:spcPts val="1800"/>
              </a:lnSpc>
              <a:spcBef>
                <a:spcPts val="900"/>
              </a:spcBef>
              <a:buFont typeface="Wingdings" panose="05000000000000000000" pitchFamily="2" charset="2"/>
              <a:buChar char="q"/>
              <a:defRPr sz="1200" b="1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324000" indent="-108000" latinLnBrk="0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-"/>
              <a:defRPr sz="105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468000" indent="-90488" latinLnBrk="0">
              <a:lnSpc>
                <a:spcPts val="1800"/>
              </a:lnSpc>
              <a:spcBef>
                <a:spcPts val="0"/>
              </a:spcBef>
              <a:spcAft>
                <a:spcPts val="100"/>
              </a:spcAft>
              <a:buFont typeface="맑은 고딕" panose="020B0503020000020004" pitchFamily="50" charset="-127"/>
              <a:buChar char="·"/>
              <a:defRPr sz="1000" baseline="0">
                <a:ln>
                  <a:noFill/>
                </a:ln>
                <a:latin typeface="Tahoma" panose="020B060403050404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3pPr>
          </a:lstStyle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  <a:p>
            <a:pPr lvl="0"/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(12pt)</a:t>
            </a:r>
            <a:endParaRPr lang="ko-KR" altLang="en-US" dirty="0"/>
          </a:p>
          <a:p>
            <a:pPr lvl="1"/>
            <a:r>
              <a:rPr lang="ko-KR" altLang="en-US" dirty="0"/>
              <a:t>수준</a:t>
            </a:r>
            <a:r>
              <a:rPr lang="en-US" altLang="ko-KR" dirty="0"/>
              <a:t>2 (10.5pt / </a:t>
            </a:r>
            <a:r>
              <a:rPr lang="ko-KR" altLang="en-US" dirty="0"/>
              <a:t>수준</a:t>
            </a:r>
            <a:r>
              <a:rPr lang="en-US" altLang="ko-KR" dirty="0"/>
              <a:t>1</a:t>
            </a:r>
            <a:r>
              <a:rPr lang="ko-KR" altLang="en-US" dirty="0"/>
              <a:t>로 복귀는 </a:t>
            </a:r>
            <a:r>
              <a:rPr lang="en-US" altLang="ko-KR" dirty="0"/>
              <a:t>Shift + Tab / </a:t>
            </a:r>
            <a:r>
              <a:rPr lang="ko-KR" altLang="en-US" dirty="0"/>
              <a:t>수준</a:t>
            </a:r>
            <a:r>
              <a:rPr lang="en-US" altLang="ko-KR" dirty="0"/>
              <a:t>3</a:t>
            </a:r>
            <a:r>
              <a:rPr lang="ko-KR" altLang="en-US" dirty="0"/>
              <a:t>은 </a:t>
            </a:r>
            <a:r>
              <a:rPr lang="en-US" altLang="ko-KR" dirty="0"/>
              <a:t>Tab)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수준</a:t>
            </a:r>
            <a:r>
              <a:rPr lang="en-US" altLang="ko-KR" dirty="0"/>
              <a:t>3 (10pt / </a:t>
            </a:r>
            <a:r>
              <a:rPr lang="ko-KR" altLang="en-US" dirty="0"/>
              <a:t>수준</a:t>
            </a:r>
            <a:r>
              <a:rPr lang="en-US" altLang="ko-KR" dirty="0"/>
              <a:t>2</a:t>
            </a:r>
            <a:r>
              <a:rPr lang="ko-KR" altLang="en-US" dirty="0"/>
              <a:t>로 복귀는 </a:t>
            </a:r>
            <a:r>
              <a:rPr lang="en-US" altLang="ko-KR" dirty="0"/>
              <a:t>Shift + Tab)</a:t>
            </a:r>
          </a:p>
        </p:txBody>
      </p:sp>
    </p:spTree>
    <p:extLst>
      <p:ext uri="{BB962C8B-B14F-4D97-AF65-F5344CB8AC3E}">
        <p14:creationId xmlns:p14="http://schemas.microsoft.com/office/powerpoint/2010/main" val="6735540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png"/><Relationship Id="rId6" Type="http://schemas.openxmlformats.org/officeDocument/2006/relationships/oleObject" Target="../embeddings/oleObject2.bin"/><Relationship Id="rId7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3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2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theme" Target="../theme/theme5.xml"/><Relationship Id="rId5" Type="http://schemas.openxmlformats.org/officeDocument/2006/relationships/tags" Target="../tags/tag1.xml"/><Relationship Id="rId6" Type="http://schemas.openxmlformats.org/officeDocument/2006/relationships/oleObject" Target="../embeddings/oleObject3.bin"/><Relationship Id="rId7" Type="http://schemas.openxmlformats.org/officeDocument/2006/relationships/image" Target="../media/image3.emf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png"/><Relationship Id="rId10" Type="http://schemas.openxmlformats.org/officeDocument/2006/relationships/oleObject" Target="../embeddings/oleObject2.bin"/><Relationship Id="rId11" Type="http://schemas.openxmlformats.org/officeDocument/2006/relationships/image" Target="../media/image2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6.xml"/><Relationship Id="rId5" Type="http://schemas.openxmlformats.org/officeDocument/2006/relationships/oleObject" Target="../embeddings/oleObject1.bin"/><Relationship Id="rId6" Type="http://schemas.openxmlformats.org/officeDocument/2006/relationships/image" Target="../media/image1.png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theme" Target="../theme/theme7.xml"/><Relationship Id="rId6" Type="http://schemas.openxmlformats.org/officeDocument/2006/relationships/oleObject" Target="../embeddings/oleObject1.bin"/><Relationship Id="rId7" Type="http://schemas.openxmlformats.org/officeDocument/2006/relationships/image" Target="../media/image1.png"/><Relationship Id="rId8" Type="http://schemas.openxmlformats.org/officeDocument/2006/relationships/oleObject" Target="../embeddings/oleObject2.bin"/><Relationship Id="rId9" Type="http://schemas.openxmlformats.org/officeDocument/2006/relationships/image" Target="../media/image2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theme" Target="../theme/theme8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2.pn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theme" Target="../theme/theme9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png"/><Relationship Id="rId6" Type="http://schemas.openxmlformats.org/officeDocument/2006/relationships/oleObject" Target="../embeddings/oleObject2.bin"/><Relationship Id="rId7" Type="http://schemas.openxmlformats.org/officeDocument/2006/relationships/image" Target="../media/image2.pn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theme" Target="../theme/theme10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2.pn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theme" Target="../theme/theme1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png"/><Relationship Id="rId6" Type="http://schemas.openxmlformats.org/officeDocument/2006/relationships/oleObject" Target="../embeddings/oleObject2.bin"/><Relationship Id="rId7" Type="http://schemas.openxmlformats.org/officeDocument/2006/relationships/image" Target="../media/image2.pn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theme" Target="../theme/theme12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88459" y="6654552"/>
            <a:ext cx="27576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637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88459" y="6654552"/>
            <a:ext cx="27576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5701587" imgH="6679365" progId="">
                  <p:embed/>
                </p:oleObj>
              </mc:Choice>
              <mc:Fallback>
                <p:oleObj name="Image" r:id="rId4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5650794" imgH="4749206" progId="">
                  <p:embed/>
                </p:oleObj>
              </mc:Choice>
              <mc:Fallback>
                <p:oleObj name="Image" r:id="rId6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6981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7" r:id="rId2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78040" y="6654552"/>
            <a:ext cx="29660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 dirty="0">
                <a:solidFill>
                  <a:srgbClr val="000000"/>
                </a:solidFill>
                <a:latin typeface="Tahoma" panose="020B0604030504040204" pitchFamily="34" charset="0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Tahoma" panose="020B0604030504040204" pitchFamily="34" charset="0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 dirty="0">
              <a:solidFill>
                <a:srgbClr val="000000"/>
              </a:solidFill>
              <a:latin typeface="Tahoma" panose="020B0604030504040204" pitchFamily="34" charset="0"/>
              <a:ea typeface="맑은 고딕" pitchFamily="50" charset="-127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5701587" imgH="6679365" progId="">
                  <p:embed/>
                </p:oleObj>
              </mc:Choice>
              <mc:Fallback>
                <p:oleObj name="Image" r:id="rId3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5650794" imgH="4749206" progId="">
                  <p:embed/>
                </p:oleObj>
              </mc:Choice>
              <mc:Fallback>
                <p:oleObj name="Image" r:id="rId5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7952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74D9A2-7BE2-4A15-BADD-0B2D9F35B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1BC64F-B281-4178-8EEE-E932196E6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C997A0-ED51-4DE1-9F61-8E19DCAF38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E19B8-B6BA-4320-A543-15ED3D76063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E32DAF-6C56-494D-B6D7-340589762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E3760B-B00C-45D4-8E2F-8FC4257DA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0835-D745-4196-8849-E9F599915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84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40E29FC-184A-52B1-560B-D43ADE1ADC42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6" imgW="404" imgH="405" progId="TCLayout.ActiveDocument.1">
                  <p:embed/>
                </p:oleObj>
              </mc:Choice>
              <mc:Fallback>
                <p:oleObj name="think-cell 슬라이드" r:id="rId6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0E29FC-184A-52B1-560B-D43ADE1ADC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78040" y="6654552"/>
            <a:ext cx="29660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>
              <a:solidFill>
                <a:srgbClr val="000000"/>
              </a:solidFill>
              <a:latin typeface="Tahoma" panose="020B0604030504040204" pitchFamily="34" charset="0"/>
              <a:ea typeface="HY견고딕" pitchFamily="18" charset="-127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8" imgW="5701587" imgH="6679365" progId="">
                  <p:embed/>
                </p:oleObj>
              </mc:Choice>
              <mc:Fallback>
                <p:oleObj name="Image" r:id="rId8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0" imgW="5650794" imgH="4749206" progId="">
                  <p:embed/>
                </p:oleObj>
              </mc:Choice>
              <mc:Fallback>
                <p:oleObj name="Image" r:id="rId10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>
              <a:solidFill>
                <a:srgbClr val="000000"/>
              </a:solidFill>
              <a:latin typeface="Tahoma" panose="020B0604030504040204" pitchFamily="34" charset="0"/>
              <a:ea typeface="HY견고딕" pitchFamily="18" charset="-127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012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  <p15:guide id="3" orient="horz" pos="107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88459" y="6654552"/>
            <a:ext cx="27576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5701587" imgH="6679365" progId="">
                  <p:embed/>
                </p:oleObj>
              </mc:Choice>
              <mc:Fallback>
                <p:oleObj name="Image" r:id="rId5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5650794" imgH="4749206" progId="">
                  <p:embed/>
                </p:oleObj>
              </mc:Choice>
              <mc:Fallback>
                <p:oleObj name="Image" r:id="rId7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098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706" r:id="rId3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78040" y="6654552"/>
            <a:ext cx="29660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 dirty="0">
                <a:solidFill>
                  <a:srgbClr val="000000"/>
                </a:solidFill>
                <a:latin typeface="Tahoma" panose="020B0604030504040204" pitchFamily="34" charset="0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Tahoma" panose="020B0604030504040204" pitchFamily="34" charset="0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 dirty="0">
              <a:solidFill>
                <a:srgbClr val="000000"/>
              </a:solidFill>
              <a:latin typeface="Tahoma" panose="020B0604030504040204" pitchFamily="34" charset="0"/>
              <a:ea typeface="맑은 고딕" pitchFamily="50" charset="-127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5701587" imgH="6679365" progId="">
                  <p:embed/>
                </p:oleObj>
              </mc:Choice>
              <mc:Fallback>
                <p:oleObj name="Image" r:id="rId6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8" imgW="5650794" imgH="4749206" progId="">
                  <p:embed/>
                </p:oleObj>
              </mc:Choice>
              <mc:Fallback>
                <p:oleObj name="Image" r:id="rId8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2601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88459" y="6654552"/>
            <a:ext cx="27576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5701587" imgH="6679365" progId="">
                  <p:embed/>
                </p:oleObj>
              </mc:Choice>
              <mc:Fallback>
                <p:oleObj name="Image" r:id="rId3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5650794" imgH="4749206" progId="">
                  <p:embed/>
                </p:oleObj>
              </mc:Choice>
              <mc:Fallback>
                <p:oleObj name="Image" r:id="rId5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124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88459" y="6654552"/>
            <a:ext cx="27576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5701587" imgH="6679365" progId="">
                  <p:embed/>
                </p:oleObj>
              </mc:Choice>
              <mc:Fallback>
                <p:oleObj name="Image" r:id="rId4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5650794" imgH="4749206" progId="">
                  <p:embed/>
                </p:oleObj>
              </mc:Choice>
              <mc:Fallback>
                <p:oleObj name="Image" r:id="rId6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7039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88459" y="6654552"/>
            <a:ext cx="27576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5701587" imgH="6679365" progId="">
                  <p:embed/>
                </p:oleObj>
              </mc:Choice>
              <mc:Fallback>
                <p:oleObj name="Image" r:id="rId3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5650794" imgH="4749206" progId="">
                  <p:embed/>
                </p:oleObj>
              </mc:Choice>
              <mc:Fallback>
                <p:oleObj name="Image" r:id="rId5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8548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78050" y="6654552"/>
            <a:ext cx="296588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3991" rIns="53991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 dirty="0">
                <a:solidFill>
                  <a:srgbClr val="000000"/>
                </a:solidFill>
                <a:latin typeface="Tahoma" panose="020B0604030504040204" pitchFamily="34" charset="0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Tahoma" panose="020B0604030504040204" pitchFamily="34" charset="0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 dirty="0">
              <a:solidFill>
                <a:srgbClr val="000000"/>
              </a:solidFill>
              <a:latin typeface="Tahoma" panose="020B0604030504040204" pitchFamily="34" charset="0"/>
              <a:ea typeface="맑은 고딕" pitchFamily="50" charset="-127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7" y="2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09" tIns="45705" rIns="91409" bIns="4570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2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5701587" imgH="6679365" progId="">
                  <p:embed/>
                </p:oleObj>
              </mc:Choice>
              <mc:Fallback>
                <p:oleObj name="Image" r:id="rId4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2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2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5650794" imgH="4749206" progId="">
                  <p:embed/>
                </p:oleObj>
              </mc:Choice>
              <mc:Fallback>
                <p:oleObj name="Image" r:id="rId6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2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7735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399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399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399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399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399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09" algn="ctr" rtl="0" eaLnBrk="1" fontAlgn="base" latinLnBrk="1" hangingPunct="1">
        <a:spcBef>
          <a:spcPct val="0"/>
        </a:spcBef>
        <a:spcAft>
          <a:spcPct val="0"/>
        </a:spcAft>
        <a:defRPr kumimoji="1" sz="4399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217" algn="ctr" rtl="0" eaLnBrk="1" fontAlgn="base" latinLnBrk="1" hangingPunct="1">
        <a:spcBef>
          <a:spcPct val="0"/>
        </a:spcBef>
        <a:spcAft>
          <a:spcPct val="0"/>
        </a:spcAft>
        <a:defRPr kumimoji="1" sz="4399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326" algn="ctr" rtl="0" eaLnBrk="1" fontAlgn="base" latinLnBrk="1" hangingPunct="1">
        <a:spcBef>
          <a:spcPct val="0"/>
        </a:spcBef>
        <a:spcAft>
          <a:spcPct val="0"/>
        </a:spcAft>
        <a:defRPr kumimoji="1" sz="4399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434" algn="ctr" rtl="0" eaLnBrk="1" fontAlgn="base" latinLnBrk="1" hangingPunct="1">
        <a:spcBef>
          <a:spcPct val="0"/>
        </a:spcBef>
        <a:spcAft>
          <a:spcPct val="0"/>
        </a:spcAft>
        <a:defRPr kumimoji="1" sz="4399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831" indent="-342831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199">
          <a:solidFill>
            <a:schemeClr val="tx1"/>
          </a:solidFill>
          <a:latin typeface="+mn-lt"/>
          <a:ea typeface="+mn-ea"/>
          <a:cs typeface="+mn-cs"/>
        </a:defRPr>
      </a:lvl1pPr>
      <a:lvl2pPr marL="742801" indent="-285693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799">
          <a:solidFill>
            <a:schemeClr val="tx1"/>
          </a:solidFill>
          <a:latin typeface="+mn-lt"/>
          <a:ea typeface="+mn-ea"/>
        </a:defRPr>
      </a:lvl2pPr>
      <a:lvl3pPr marL="1142771" indent="-228554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9880" indent="-228554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402" indent="-226968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2510" indent="-226968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69619" indent="-226968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6728" indent="-226968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3836" indent="-226968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Text Box 8"/>
          <p:cNvSpPr txBox="1">
            <a:spLocks noChangeArrowheads="1"/>
          </p:cNvSpPr>
          <p:nvPr/>
        </p:nvSpPr>
        <p:spPr bwMode="auto">
          <a:xfrm>
            <a:off x="11888459" y="6654552"/>
            <a:ext cx="275767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 algn="ctr" eaLnBrk="0" fontAlgn="base" latinLnBrk="0" hangingPunct="0">
              <a:spcBef>
                <a:spcPct val="45000"/>
              </a:spcBef>
              <a:spcAft>
                <a:spcPct val="0"/>
              </a:spcAft>
              <a:defRPr/>
            </a:pPr>
            <a:r>
              <a:rPr lang="en-US" altLang="ko-KR" sz="800" i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fld id="{3C9FA4B4-D45C-4644-8044-F085C812C4DB}" type="slidenum">
              <a:rPr lang="en-US" altLang="ko-KR" sz="800" i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eaLnBrk="0" fontAlgn="base" latinLnBrk="0" hangingPunct="0">
                <a:spcBef>
                  <a:spcPct val="4500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800" i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60979" name="Rectangle 19"/>
          <p:cNvSpPr>
            <a:spLocks noChangeArrowheads="1"/>
          </p:cNvSpPr>
          <p:nvPr/>
        </p:nvSpPr>
        <p:spPr bwMode="auto">
          <a:xfrm>
            <a:off x="58616" y="1"/>
            <a:ext cx="12133385" cy="5492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91424" tIns="45712" rIns="91424" bIns="4571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1026" name="Object 20"/>
          <p:cNvGraphicFramePr>
            <a:graphicFrameLocks noChangeAspect="1"/>
          </p:cNvGraphicFramePr>
          <p:nvPr/>
        </p:nvGraphicFramePr>
        <p:xfrm>
          <a:off x="3985846" y="1"/>
          <a:ext cx="4079631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5701587" imgH="6679365" progId="">
                  <p:embed/>
                </p:oleObj>
              </mc:Choice>
              <mc:Fallback>
                <p:oleObj name="Image" r:id="rId3" imgW="5701587" imgH="6679365" progId="">
                  <p:embed/>
                  <p:pic>
                    <p:nvPicPr>
                      <p:cNvPr id="10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DDDDDD"/>
                          </a:clrFrom>
                          <a:clrTo>
                            <a:srgbClr val="DDDDDD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9336"/>
                      <a:stretch>
                        <a:fillRect/>
                      </a:stretch>
                    </p:blipFill>
                    <p:spPr bwMode="auto">
                      <a:xfrm>
                        <a:off x="3985846" y="1"/>
                        <a:ext cx="4079631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1"/>
          <p:cNvGraphicFramePr>
            <a:graphicFrameLocks noChangeAspect="1"/>
          </p:cNvGraphicFramePr>
          <p:nvPr/>
        </p:nvGraphicFramePr>
        <p:xfrm>
          <a:off x="6828693" y="1"/>
          <a:ext cx="5369169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5650794" imgH="4749206" progId="">
                  <p:embed/>
                </p:oleObj>
              </mc:Choice>
              <mc:Fallback>
                <p:oleObj name="Image" r:id="rId5" imgW="5650794" imgH="4749206" progId="">
                  <p:embed/>
                  <p:pic>
                    <p:nvPicPr>
                      <p:cNvPr id="10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5551"/>
                      <a:stretch>
                        <a:fillRect/>
                      </a:stretch>
                    </p:blipFill>
                    <p:spPr bwMode="auto">
                      <a:xfrm>
                        <a:off x="6828693" y="1"/>
                        <a:ext cx="5369169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0982" name="Line 22"/>
          <p:cNvSpPr>
            <a:spLocks noChangeShapeType="1"/>
          </p:cNvSpPr>
          <p:nvPr/>
        </p:nvSpPr>
        <p:spPr bwMode="auto">
          <a:xfrm>
            <a:off x="335361" y="549275"/>
            <a:ext cx="11889856" cy="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0848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30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02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74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46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76E4DA-51E3-C29C-2ED6-391BEDE4A3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628094" cy="2387600"/>
          </a:xfrm>
        </p:spPr>
        <p:txBody>
          <a:bodyPr/>
          <a:lstStyle/>
          <a:p>
            <a:r>
              <a:rPr lang="ko-KR" altLang="en-US" b="1" dirty="0" err="1"/>
              <a:t>’26년 구성원 역량평가</a:t>
            </a:r>
            <a:r>
              <a:rPr lang="en-US" altLang="ko-KR" b="1" dirty="0"/>
              <a:t/>
            </a:r>
            <a:r>
              <a:rPr lang="ko-KR" altLang="en-US" b="1" dirty="0"/>
              <a:t/>
            </a:r>
            <a:endParaRPr lang="en-US" altLang="ko-KR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AB649D-3B52-D148-0B78-84C25F891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22728" y="5561107"/>
            <a:ext cx="4572000" cy="1185115"/>
          </a:xfrm>
        </p:spPr>
        <p:txBody>
          <a:bodyPr/>
          <a:lstStyle/>
          <a:p>
            <a:r>
              <a:rPr lang="en-US" altLang="ko-KR" b="1" dirty="0"/>
              <a:t>’26. 10. 14</a:t>
            </a:r>
          </a:p>
          <a:p>
            <a:r>
              <a:rPr lang="ko-KR" altLang="en-US" b="1" dirty="0" err="1"/>
              <a:t>OO팀 OOO</a:t>
            </a:r>
            <a:endParaRPr lang="ko-KR" altLang="en-US" b="1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4E83240E-4184-5FDE-E862-E6DCC5AC83A9}"/>
              </a:ext>
            </a:extLst>
          </p:cNvPr>
          <p:cNvCxnSpPr/>
          <p:nvPr/>
        </p:nvCxnSpPr>
        <p:spPr>
          <a:xfrm>
            <a:off x="1039906" y="3509963"/>
            <a:ext cx="1029148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42415" y="3639312"/>
            <a:ext cx="1028700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800" b="0">
                <a:solidFill>
                  <a:srgbClr val="595959"/>
                </a:solidFill>
              </a:rPr>
              <a:t>NAMUHX 서비스 백엔드 개발 업무 수행 실적  (’26.4 ~ ’26.9)</a:t>
            </a:r>
          </a:p>
        </p:txBody>
      </p:sp>
    </p:spTree>
    <p:extLst>
      <p:ext uri="{BB962C8B-B14F-4D97-AF65-F5344CB8AC3E}">
        <p14:creationId xmlns:p14="http://schemas.microsoft.com/office/powerpoint/2010/main" val="1552241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89403D9-CEFF-7647-87DF-11499A13320C}"/>
              </a:ext>
            </a:extLst>
          </p:cNvPr>
          <p:cNvSpPr/>
          <p:nvPr/>
        </p:nvSpPr>
        <p:spPr>
          <a:xfrm>
            <a:off x="3238500" y="1325880"/>
            <a:ext cx="431800" cy="431800"/>
          </a:xfrm>
          <a:prstGeom prst="rect">
            <a:avLst/>
          </a:prstGeom>
          <a:solidFill>
            <a:srgbClr val="808080"/>
          </a:solidFill>
          <a:ln w="9525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 latinLnBrk="0"/>
            <a:r>
              <a:rPr lang="en-US" altLang="ko-KR" sz="1500" b="1">
                <a:solidFill>
                  <a:srgbClr val="FFFFFF"/>
                </a:solidFill>
                <a:latin typeface="Trebuchet MS" panose="020B0603020202020204" pitchFamily="34" charset="0"/>
                <a:ea typeface="맑은 고딕" pitchFamily="50" charset="-127"/>
                <a:cs typeface="Tahoma" pitchFamily="34" charset="0"/>
              </a:rPr>
              <a:t>1</a:t>
            </a:r>
            <a:endParaRPr lang="ko-KR" altLang="en-US" sz="1500" b="1" dirty="0">
              <a:solidFill>
                <a:srgbClr val="FFFFFF"/>
              </a:solidFill>
              <a:latin typeface="Trebuchet MS" panose="020B0603020202020204" pitchFamily="34" charset="0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97F303-2F77-8647-B870-307E6072B73A}"/>
              </a:ext>
            </a:extLst>
          </p:cNvPr>
          <p:cNvSpPr txBox="1"/>
          <p:nvPr/>
        </p:nvSpPr>
        <p:spPr>
          <a:xfrm>
            <a:off x="3810000" y="1284732"/>
            <a:ext cx="5842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2400" b="1">
                <a:solidFill>
                  <a:srgbClr val="000000"/>
                </a:solidFill>
              </a:rPr>
              <a:t>업무 수행 총괄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5DAB76B-D1BF-2943-9B06-335A2483CC0F}"/>
              </a:ext>
            </a:extLst>
          </p:cNvPr>
          <p:cNvSpPr/>
          <p:nvPr/>
        </p:nvSpPr>
        <p:spPr>
          <a:xfrm>
            <a:off x="3238500" y="2130552"/>
            <a:ext cx="431800" cy="431800"/>
          </a:xfrm>
          <a:prstGeom prst="rect">
            <a:avLst/>
          </a:prstGeom>
          <a:solidFill>
            <a:srgbClr val="808080"/>
          </a:solidFill>
          <a:ln w="9525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 latinLnBrk="0"/>
            <a:r>
              <a:rPr lang="en-US" altLang="ko-KR" sz="1500" b="1">
                <a:solidFill>
                  <a:srgbClr val="FFFFFF"/>
                </a:solidFill>
                <a:latin typeface="Trebuchet MS" panose="020B0603020202020204" pitchFamily="34" charset="0"/>
                <a:ea typeface="맑은 고딕" pitchFamily="50" charset="-127"/>
                <a:cs typeface="Tahoma" pitchFamily="34" charset="0"/>
              </a:rPr>
              <a:t>2</a:t>
            </a:r>
            <a:endParaRPr lang="ko-KR" altLang="en-US" sz="1500" b="1" dirty="0">
              <a:solidFill>
                <a:srgbClr val="FFFFFF"/>
              </a:solidFill>
              <a:latin typeface="Trebuchet MS" panose="020B0603020202020204" pitchFamily="34" charset="0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61BAE7-E56C-E146-A5F5-3D9B085AB3DD}"/>
              </a:ext>
            </a:extLst>
          </p:cNvPr>
          <p:cNvSpPr txBox="1"/>
          <p:nvPr/>
        </p:nvSpPr>
        <p:spPr>
          <a:xfrm>
            <a:off x="3810000" y="2089404"/>
            <a:ext cx="5842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2400" b="1">
                <a:solidFill>
                  <a:srgbClr val="000000"/>
                </a:solidFill>
              </a:rPr>
              <a:t>OASYS 주문·계약 연동 (B015)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DD35101-7C92-AD49-986F-DA22D55B60C1}"/>
              </a:ext>
            </a:extLst>
          </p:cNvPr>
          <p:cNvSpPr/>
          <p:nvPr/>
        </p:nvSpPr>
        <p:spPr>
          <a:xfrm>
            <a:off x="3238500" y="2935224"/>
            <a:ext cx="431800" cy="431800"/>
          </a:xfrm>
          <a:prstGeom prst="rect">
            <a:avLst/>
          </a:prstGeom>
          <a:solidFill>
            <a:srgbClr val="808080"/>
          </a:solidFill>
          <a:ln w="9525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 latinLnBrk="0"/>
            <a:r>
              <a:rPr lang="en-US" altLang="ko-KR" sz="1500" b="1">
                <a:solidFill>
                  <a:srgbClr val="FFFFFF"/>
                </a:solidFill>
                <a:latin typeface="Trebuchet MS" panose="020B0603020202020204" pitchFamily="34" charset="0"/>
                <a:ea typeface="맑은 고딕" pitchFamily="50" charset="-127"/>
                <a:cs typeface="Tahoma" pitchFamily="34" charset="0"/>
              </a:rPr>
              <a:t>3</a:t>
            </a:r>
            <a:endParaRPr lang="ko-KR" altLang="en-US" sz="1500" b="1" dirty="0">
              <a:solidFill>
                <a:srgbClr val="FFFFFF"/>
              </a:solidFill>
              <a:latin typeface="Trebuchet MS" panose="020B0603020202020204" pitchFamily="34" charset="0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0E6BF4-0F9C-9247-B49F-A14050D7780A}"/>
              </a:ext>
            </a:extLst>
          </p:cNvPr>
          <p:cNvSpPr txBox="1"/>
          <p:nvPr/>
        </p:nvSpPr>
        <p:spPr>
          <a:xfrm>
            <a:off x="3810000" y="2894076"/>
            <a:ext cx="5842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2400" b="1">
                <a:solidFill>
                  <a:srgbClr val="000000"/>
                </a:solidFill>
              </a:rPr>
              <a:t>데이터 처리 구조 개선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19B749F-7321-654A-8A16-C09A86472CD0}"/>
              </a:ext>
            </a:extLst>
          </p:cNvPr>
          <p:cNvSpPr/>
          <p:nvPr/>
        </p:nvSpPr>
        <p:spPr>
          <a:xfrm>
            <a:off x="3238500" y="3739896"/>
            <a:ext cx="431800" cy="431800"/>
          </a:xfrm>
          <a:prstGeom prst="rect">
            <a:avLst/>
          </a:prstGeom>
          <a:solidFill>
            <a:srgbClr val="808080"/>
          </a:solidFill>
          <a:ln w="9525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 latinLnBrk="0"/>
            <a:r>
              <a:rPr lang="en-US" altLang="ko-KR" sz="1500" b="1">
                <a:solidFill>
                  <a:srgbClr val="FFFFFF"/>
                </a:solidFill>
                <a:latin typeface="Trebuchet MS" panose="020B0603020202020204" pitchFamily="34" charset="0"/>
                <a:ea typeface="맑은 고딕" pitchFamily="50" charset="-127"/>
                <a:cs typeface="Tahoma" pitchFamily="34" charset="0"/>
              </a:rPr>
              <a:t>4</a:t>
            </a:r>
            <a:endParaRPr lang="ko-KR" altLang="en-US" sz="1500" b="1" dirty="0">
              <a:solidFill>
                <a:srgbClr val="FFFFFF"/>
              </a:solidFill>
              <a:latin typeface="Trebuchet MS" panose="020B0603020202020204" pitchFamily="34" charset="0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F6333C-36AC-5643-A3C8-39600B6AC9CE}"/>
              </a:ext>
            </a:extLst>
          </p:cNvPr>
          <p:cNvSpPr txBox="1"/>
          <p:nvPr/>
        </p:nvSpPr>
        <p:spPr>
          <a:xfrm>
            <a:off x="3810000" y="3698748"/>
            <a:ext cx="5842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2400" b="1">
                <a:solidFill>
                  <a:srgbClr val="000000"/>
                </a:solidFill>
              </a:rPr>
              <a:t>기기 제어·이력 서비스 기능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CC3E248-693A-B640-B82D-28F17938D45D}"/>
              </a:ext>
            </a:extLst>
          </p:cNvPr>
          <p:cNvSpPr/>
          <p:nvPr/>
        </p:nvSpPr>
        <p:spPr>
          <a:xfrm>
            <a:off x="3238500" y="4544568"/>
            <a:ext cx="431800" cy="431800"/>
          </a:xfrm>
          <a:prstGeom prst="rect">
            <a:avLst/>
          </a:prstGeom>
          <a:solidFill>
            <a:srgbClr val="808080"/>
          </a:solidFill>
          <a:ln w="9525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 latinLnBrk="0"/>
            <a:r>
              <a:rPr lang="en-US" altLang="ko-KR" sz="1500" b="1">
                <a:solidFill>
                  <a:srgbClr val="FFFFFF"/>
                </a:solidFill>
                <a:latin typeface="Trebuchet MS" panose="020B0603020202020204" pitchFamily="34" charset="0"/>
                <a:ea typeface="맑은 고딕" pitchFamily="50" charset="-127"/>
                <a:cs typeface="Tahoma" pitchFamily="34" charset="0"/>
              </a:rPr>
              <a:t>5</a:t>
            </a:r>
            <a:endParaRPr lang="ko-KR" altLang="en-US" sz="1500" b="1" dirty="0">
              <a:solidFill>
                <a:srgbClr val="FFFFFF"/>
              </a:solidFill>
              <a:latin typeface="Trebuchet MS" panose="020B0603020202020204" pitchFamily="34" charset="0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977330-37B5-5B48-BB0C-8E2E411EC90F}"/>
              </a:ext>
            </a:extLst>
          </p:cNvPr>
          <p:cNvSpPr txBox="1"/>
          <p:nvPr/>
        </p:nvSpPr>
        <p:spPr>
          <a:xfrm>
            <a:off x="3810000" y="4503420"/>
            <a:ext cx="5842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2400" b="1">
                <a:solidFill>
                  <a:srgbClr val="000000"/>
                </a:solidFill>
              </a:rPr>
              <a:t>인증·보안 및 실시간 통신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D9A2A1-1EC6-E24E-8735-70BCAABDD64F}"/>
              </a:ext>
            </a:extLst>
          </p:cNvPr>
          <p:cNvSpPr/>
          <p:nvPr/>
        </p:nvSpPr>
        <p:spPr>
          <a:xfrm>
            <a:off x="3238500" y="5349240"/>
            <a:ext cx="431800" cy="431800"/>
          </a:xfrm>
          <a:prstGeom prst="rect">
            <a:avLst/>
          </a:prstGeom>
          <a:solidFill>
            <a:srgbClr val="808080"/>
          </a:solidFill>
          <a:ln w="9525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 latinLnBrk="0"/>
            <a:r>
              <a:rPr lang="en-US" altLang="ko-KR" sz="1500" b="1">
                <a:solidFill>
                  <a:srgbClr val="FFFFFF"/>
                </a:solidFill>
                <a:latin typeface="Trebuchet MS" panose="020B0603020202020204" pitchFamily="34" charset="0"/>
                <a:ea typeface="맑은 고딕" pitchFamily="50" charset="-127"/>
                <a:cs typeface="Tahoma" pitchFamily="34" charset="0"/>
              </a:rPr>
              <a:t>6</a:t>
            </a:r>
            <a:endParaRPr lang="ko-KR" altLang="en-US" sz="1500" b="1" dirty="0">
              <a:solidFill>
                <a:srgbClr val="FFFFFF"/>
              </a:solidFill>
              <a:latin typeface="Trebuchet MS" panose="020B0603020202020204" pitchFamily="34" charset="0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C51027-8B9F-9546-9830-BF4EBBAFDC36}"/>
              </a:ext>
            </a:extLst>
          </p:cNvPr>
          <p:cNvSpPr txBox="1"/>
          <p:nvPr/>
        </p:nvSpPr>
        <p:spPr>
          <a:xfrm>
            <a:off x="3810000" y="5308092"/>
            <a:ext cx="5842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2400" b="1">
                <a:solidFill>
                  <a:srgbClr val="000000"/>
                </a:solidFill>
              </a:rPr>
              <a:t>역량 자기평가 및 향후 계획</a:t>
            </a:r>
          </a:p>
        </p:txBody>
      </p:sp>
    </p:spTree>
    <p:extLst>
      <p:ext uri="{BB962C8B-B14F-4D97-AF65-F5344CB8AC3E}">
        <p14:creationId xmlns:p14="http://schemas.microsoft.com/office/powerpoint/2010/main" val="3463790963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786384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200" b="1">
                <a:solidFill>
                  <a:srgbClr val="000000"/>
                </a:solidFill>
              </a:rPr>
              <a:t>1. 업무 수행 총괄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28016"/>
            <a:ext cx="434340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1500" b="1">
                <a:solidFill>
                  <a:srgbClr val="7F7F7F"/>
                </a:solidFill>
              </a:rPr>
              <a:t>’26.4 ~ ’26.9  |  backend-api-main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21792"/>
            <a:ext cx="1143000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450" b="1">
                <a:solidFill>
                  <a:srgbClr val="000000"/>
                </a:solidFill>
              </a:rPr>
              <a:t>NAMUHX 서비스 백엔드의 외부 연동·데이터 처리·기기 서비스·보안 영역을 맡아 개발부터 배포까지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097280"/>
            <a:ext cx="58064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담당 업무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89888"/>
            <a:ext cx="5715000" cy="868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 marL="128016" indent="-128016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</a:rPr>
              <a:t>- NAMUHX 서비스 백엔드 API (Java · Spring · MyBatis) 개발 및 운영</a:t>
            </a:r>
          </a:p>
          <a:p>
            <a:pPr algn="l" marL="128016" indent="-128016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</a:rPr>
              <a:t>- </a:t>
            </a:r>
            <a:r>
              <a:rPr sz="1100" b="1">
                <a:solidFill>
                  <a:srgbClr val="262626"/>
                </a:solidFill>
              </a:rPr>
              <a:t>외부 시스템(OASYS) 연동</a:t>
            </a:r>
            <a:r>
              <a:rPr sz="1100" b="0">
                <a:solidFill>
                  <a:srgbClr val="262626"/>
                </a:solidFill>
              </a:rPr>
              <a:t>, 기기 제어·이력, 통계·리포트, 사용자 인증 영역 담당</a:t>
            </a:r>
          </a:p>
          <a:p>
            <a:pPr algn="l" marL="128016" indent="-128016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</a:rPr>
              <a:t>- 기능 설계 → 구현 → </a:t>
            </a:r>
            <a:r>
              <a:rPr sz="1100" b="1">
                <a:solidFill>
                  <a:srgbClr val="262626"/>
                </a:solidFill>
              </a:rPr>
              <a:t>단위 테스트</a:t>
            </a:r>
            <a:r>
              <a:rPr sz="1100" b="0">
                <a:solidFill>
                  <a:srgbClr val="262626"/>
                </a:solidFill>
              </a:rPr>
              <a:t> → dev / stg / main 배포까지 전 과정 수행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331720"/>
            <a:ext cx="58064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영역별 수행 실적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2651760"/>
          <a:ext cx="5806440" cy="19751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43000"/>
                <a:gridCol w="3794760"/>
                <a:gridCol w="86868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영역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주요 수행 내용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시기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62626"/>
                          </a:solidFill>
                        </a:rPr>
                        <a:t>외부 시스템 연동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DCE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OASYS 주문 I/F(B015) 수신·적재, 계약 자동 동기화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EE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</a:rPr>
                        <a:t>8~9월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EEF0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62626"/>
                          </a:solidFill>
                        </a:rPr>
                        <a:t>데이터 처리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실고객 엑셀 업·다운로드, 대용량 엑셀 스트리밍 다운로드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</a:rPr>
                        <a:t>8월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62626"/>
                          </a:solidFill>
                        </a:rPr>
                        <a:t>기기·서비스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LLM 음성데이터 S3 URL 전달, 청소 결과 7일 이력, 공기질 API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</a:rPr>
                        <a:t>5~7월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62626"/>
                          </a:solidFill>
                        </a:rPr>
                        <a:t>인증·보안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비밀번호 변경 이력·만료 정책, 인증 에러코드 분리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</a:rPr>
                        <a:t>4~9월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62626"/>
                          </a:solidFill>
                        </a:rPr>
                        <a:t>실시간 통신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AWS API Gateway WebSocket 연동, 웹 푸시(FCM)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62626"/>
                          </a:solidFill>
                        </a:rPr>
                        <a:t>5~6월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4800600"/>
            <a:ext cx="58064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핵심 성과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5093208"/>
            <a:ext cx="5715000" cy="12801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 marL="128016" indent="-128016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</a:rPr>
              <a:t>- 수작업(엑셀) 기반 실고객 데이터 관리 → </a:t>
            </a:r>
            <a:r>
              <a:rPr sz="1100" b="1">
                <a:solidFill>
                  <a:srgbClr val="262626"/>
                </a:solidFill>
              </a:rPr>
              <a:t>시스템 간 자동 연동 구조로 전환</a:t>
            </a:r>
          </a:p>
          <a:p>
            <a:pPr algn="l" marL="128016" indent="-128016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</a:rPr>
              <a:t>- 대용량 통계 엑셀 다운로드를 </a:t>
            </a:r>
            <a:r>
              <a:rPr sz="1100" b="1">
                <a:solidFill>
                  <a:srgbClr val="262626"/>
                </a:solidFill>
              </a:rPr>
              <a:t>스트리밍 방식</a:t>
            </a:r>
            <a:r>
              <a:rPr sz="1100" b="0">
                <a:solidFill>
                  <a:srgbClr val="262626"/>
                </a:solidFill>
              </a:rPr>
              <a:t>으로 바꿔 메모리 부담 억제</a:t>
            </a:r>
          </a:p>
          <a:p>
            <a:pPr algn="l" marL="128016" indent="-128016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</a:rPr>
              <a:t>- 주요 기능마다 </a:t>
            </a:r>
            <a:r>
              <a:rPr sz="1100" b="1">
                <a:solidFill>
                  <a:srgbClr val="262626"/>
                </a:solidFill>
              </a:rPr>
              <a:t>단위 테스트를 함께 작성</a:t>
            </a:r>
            <a:r>
              <a:rPr sz="1100" b="0">
                <a:solidFill>
                  <a:srgbClr val="262626"/>
                </a:solidFill>
              </a:rPr>
              <a:t> → 회귀 위험 감소, 리팩터링 기반 확보</a:t>
            </a:r>
          </a:p>
          <a:p>
            <a:pPr algn="l" marL="128016" indent="-128016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</a:rPr>
              <a:t>- 운영 이슈(hotfix·원복) 신속 대응으로 서비스 안정성 유지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097280"/>
            <a:ext cx="5440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300" b="1">
                <a:solidFill>
                  <a:srgbClr val="000000"/>
                </a:solidFill>
              </a:rPr>
              <a:t>【 개발 활동 지표 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463040"/>
            <a:ext cx="12573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36192"/>
            <a:ext cx="125730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3000" b="1">
                <a:solidFill>
                  <a:srgbClr val="C00000"/>
                </a:solidFill>
              </a:rPr>
              <a:t>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30552"/>
            <a:ext cx="125730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000" b="0">
                <a:solidFill>
                  <a:srgbClr val="404040"/>
                </a:solidFill>
              </a:rPr>
              <a:t>기능 커밋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49540" y="1463040"/>
            <a:ext cx="12573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9540" y="1536192"/>
            <a:ext cx="125730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3000" b="1">
                <a:solidFill>
                  <a:srgbClr val="2D2D8A"/>
                </a:solidFill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9540" y="2130552"/>
            <a:ext cx="125730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000" b="0">
                <a:solidFill>
                  <a:srgbClr val="404040"/>
                </a:solidFill>
              </a:rPr>
              <a:t>단위 테스트 클래스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463040"/>
            <a:ext cx="12573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536192"/>
            <a:ext cx="125730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3000" b="1">
                <a:solidFill>
                  <a:srgbClr val="2D2D8A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130552"/>
            <a:ext cx="125730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000" b="0">
                <a:solidFill>
                  <a:srgbClr val="404040"/>
                </a:solidFill>
              </a:rPr>
              <a:t>담당 업무 영역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38459" y="1463040"/>
            <a:ext cx="12573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38459" y="1536192"/>
            <a:ext cx="125730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3000" b="1">
                <a:solidFill>
                  <a:srgbClr val="2D2D8A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38459" y="2130552"/>
            <a:ext cx="125730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000" b="0">
                <a:solidFill>
                  <a:srgbClr val="404040"/>
                </a:solidFill>
              </a:rPr>
              <a:t>신규 외부 I/F 구축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578608"/>
            <a:ext cx="5440680" cy="228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900" b="0">
                <a:solidFill>
                  <a:srgbClr val="808080"/>
                </a:solidFill>
              </a:rPr>
              <a:t>※ merge 커밋 제외, 브랜치 간 중복 반영 커밋은 1건으로 집계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971800"/>
            <a:ext cx="5440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300" b="1">
                <a:solidFill>
                  <a:srgbClr val="000000"/>
                </a:solidFill>
              </a:rPr>
              <a:t>【 월별 커밋 추이 】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6355080" y="3291840"/>
          <a:ext cx="544068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Rectangle 27"/>
          <p:cNvSpPr/>
          <p:nvPr/>
        </p:nvSpPr>
        <p:spPr>
          <a:xfrm>
            <a:off x="6355080" y="5897880"/>
            <a:ext cx="5440680" cy="457200"/>
          </a:xfrm>
          <a:prstGeom prst="rect">
            <a:avLst/>
          </a:prstGeom>
          <a:solidFill>
            <a:srgbClr val="EEF0F8"/>
          </a:solidFill>
          <a:ln>
            <a:noFill/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2D2D8A"/>
                </a:solidFill>
              </a:rPr>
              <a:t>8월 집중 구간: OASYS 연동 신규 구축 · 실고객 엑셀 · 엑셀 스트리밍 최적화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786384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200" b="1">
                <a:solidFill>
                  <a:srgbClr val="000000"/>
                </a:solidFill>
              </a:rPr>
              <a:t>2. 주요 실적_OASYS 주문·계약 연동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28016"/>
            <a:ext cx="434340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1500" b="1">
                <a:solidFill>
                  <a:srgbClr val="7F7F7F"/>
                </a:solidFill>
              </a:rPr>
              <a:t>B015 주문 인터페이스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21792"/>
            <a:ext cx="1143000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450" b="1">
                <a:solidFill>
                  <a:srgbClr val="000000"/>
                </a:solidFill>
              </a:rPr>
              <a:t>OASYS 주문 정보(B015)를 API로 받아 기기 사용 현황과 계약 정보를 자동 동기화한다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097280"/>
            <a:ext cx="58064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과제 개요 — 엑셀 수기 입력 없이 시스템 간 직접 연동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89888"/>
            <a:ext cx="571500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 marL="128016" indent="-128016">
              <a:spcAft>
                <a:spcPts val="100"/>
              </a:spcAft>
            </a:pPr>
            <a:r>
              <a:rPr sz="1050" b="0">
                <a:solidFill>
                  <a:srgbClr val="262626"/>
                </a:solidFill>
              </a:rPr>
              <a:t>- OASYS(주문·계약 시스템)가 보내는 </a:t>
            </a:r>
            <a:r>
              <a:rPr sz="1050" b="1">
                <a:solidFill>
                  <a:srgbClr val="262626"/>
                </a:solidFill>
              </a:rPr>
              <a:t>주문 I/F(B015) 수신 API 신규 구축</a:t>
            </a:r>
            <a:r>
              <a:rPr sz="1050" b="0">
                <a:solidFill>
                  <a:srgbClr val="262626"/>
                </a:solidFill>
              </a:rPr>
              <a:t> </a:t>
            </a:r>
            <a:r>
              <a:rPr sz="1050" b="1">
                <a:solidFill>
                  <a:srgbClr val="C00000"/>
                </a:solidFill>
              </a:rPr>
              <a:t>①</a:t>
            </a:r>
          </a:p>
          <a:p>
            <a:pPr algn="l" marL="128016" indent="-128016">
              <a:spcAft>
                <a:spcPts val="100"/>
              </a:spcAft>
            </a:pPr>
            <a:r>
              <a:rPr sz="1050" b="0">
                <a:solidFill>
                  <a:srgbClr val="262626"/>
                </a:solidFill>
              </a:rPr>
              <a:t>- 주문 데이터를 </a:t>
            </a:r>
            <a:r>
              <a:rPr sz="1050" b="1">
                <a:solidFill>
                  <a:srgbClr val="262626"/>
                </a:solidFill>
              </a:rPr>
              <a:t>기기·일자 단위로 적재</a:t>
            </a:r>
            <a:r>
              <a:rPr sz="1050" b="0">
                <a:solidFill>
                  <a:srgbClr val="262626"/>
                </a:solidFill>
              </a:rPr>
              <a:t>하고 기기 사용 여부 판별 </a:t>
            </a:r>
            <a:r>
              <a:rPr sz="1050" b="1">
                <a:solidFill>
                  <a:srgbClr val="C00000"/>
                </a:solidFill>
              </a:rPr>
              <a:t>②</a:t>
            </a:r>
          </a:p>
          <a:p>
            <a:pPr algn="l" marL="128016" indent="-128016">
              <a:spcAft>
                <a:spcPts val="100"/>
              </a:spcAft>
            </a:pPr>
            <a:r>
              <a:rPr sz="1050" b="0">
                <a:solidFill>
                  <a:srgbClr val="262626"/>
                </a:solidFill>
              </a:rPr>
              <a:t>- 판별 결과로 </a:t>
            </a:r>
            <a:r>
              <a:rPr sz="1050" b="1">
                <a:solidFill>
                  <a:srgbClr val="262626"/>
                </a:solidFill>
              </a:rPr>
              <a:t>계약(contract) 테이블 신규 등록·갱신을 비동기 처리</a:t>
            </a:r>
            <a:r>
              <a:rPr sz="1050" b="0">
                <a:solidFill>
                  <a:srgbClr val="262626"/>
                </a:solidFill>
              </a:rPr>
              <a:t> </a:t>
            </a:r>
            <a:r>
              <a:rPr sz="1050" b="1">
                <a:solidFill>
                  <a:srgbClr val="C00000"/>
                </a:solidFill>
              </a:rPr>
              <a:t>③</a:t>
            </a:r>
          </a:p>
          <a:p>
            <a:pPr algn="l" marL="128016" indent="-128016">
              <a:spcAft>
                <a:spcPts val="100"/>
              </a:spcAft>
            </a:pPr>
            <a:r>
              <a:rPr sz="1050" b="0">
                <a:solidFill>
                  <a:srgbClr val="262626"/>
                </a:solidFill>
              </a:rPr>
              <a:t>- 계약 공유(복수 기기), 세이프 계약번호 갱신 제외 등 </a:t>
            </a:r>
            <a:r>
              <a:rPr sz="1050" b="1">
                <a:solidFill>
                  <a:srgbClr val="262626"/>
                </a:solidFill>
              </a:rPr>
              <a:t>예외 규칙 반영</a:t>
            </a:r>
            <a:r>
              <a:rPr sz="1050" b="0">
                <a:solidFill>
                  <a:srgbClr val="262626"/>
                </a:solidFill>
              </a:rPr>
              <a:t> </a:t>
            </a:r>
            <a:r>
              <a:rPr sz="1050" b="1">
                <a:solidFill>
                  <a:srgbClr val="C00000"/>
                </a:solidFill>
              </a:rPr>
              <a:t>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487168"/>
            <a:ext cx="58064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처리 흐름 (4단계)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2788920"/>
            <a:ext cx="1300734" cy="65836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1</a:t>
            </a:r>
          </a:p>
          <a:p>
            <a:pPr algn="ctr"/>
            <a:r>
              <a:rPr sz="1250" b="1">
                <a:solidFill>
                  <a:srgbClr val="FFFFFF"/>
                </a:solidFill>
              </a:rPr>
              <a:t>주문 수신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OASYS → API</a:t>
            </a:r>
          </a:p>
        </p:txBody>
      </p:sp>
      <p:sp>
        <p:nvSpPr>
          <p:cNvPr id="10" name="Chevron 9"/>
          <p:cNvSpPr/>
          <p:nvPr/>
        </p:nvSpPr>
        <p:spPr>
          <a:xfrm>
            <a:off x="1712213" y="2980944"/>
            <a:ext cx="146304" cy="274320"/>
          </a:xfrm>
          <a:prstGeom prst="chevron">
            <a:avLst/>
          </a:prstGeom>
          <a:solidFill>
            <a:srgbClr val="BFBFBF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3493007"/>
            <a:ext cx="1392174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950" b="0">
                <a:solidFill>
                  <a:srgbClr val="404040"/>
                </a:solidFill>
              </a:rPr>
              <a:t>요청 검증·오류 응답</a:t>
            </a:r>
          </a:p>
          <a:p>
            <a:pPr algn="ctr"/>
            <a:r>
              <a:rPr sz="950" b="0">
                <a:solidFill>
                  <a:srgbClr val="404040"/>
                </a:solidFill>
              </a:rPr>
              <a:t>표준화(Advice)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85950" y="2788920"/>
            <a:ext cx="1300734" cy="65836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2</a:t>
            </a:r>
          </a:p>
          <a:p>
            <a:pPr algn="ctr"/>
            <a:r>
              <a:rPr sz="1250" b="1">
                <a:solidFill>
                  <a:srgbClr val="FFFFFF"/>
                </a:solidFill>
              </a:rPr>
              <a:t>주문 적재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IngestService</a:t>
            </a:r>
          </a:p>
        </p:txBody>
      </p:sp>
      <p:sp>
        <p:nvSpPr>
          <p:cNvPr id="13" name="Chevron 12"/>
          <p:cNvSpPr/>
          <p:nvPr/>
        </p:nvSpPr>
        <p:spPr>
          <a:xfrm>
            <a:off x="3214115" y="2980944"/>
            <a:ext cx="146304" cy="274320"/>
          </a:xfrm>
          <a:prstGeom prst="chevron">
            <a:avLst/>
          </a:prstGeom>
          <a:solidFill>
            <a:srgbClr val="BFBFBF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40230" y="3493007"/>
            <a:ext cx="1392174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950" b="0">
                <a:solidFill>
                  <a:srgbClr val="404040"/>
                </a:solidFill>
              </a:rPr>
              <a:t>기기·일자 단위</a:t>
            </a:r>
          </a:p>
          <a:p>
            <a:pPr algn="ctr"/>
            <a:r>
              <a:rPr sz="950" b="0">
                <a:solidFill>
                  <a:srgbClr val="404040"/>
                </a:solidFill>
              </a:rPr>
              <a:t>데이터 적재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7851" y="2788920"/>
            <a:ext cx="1300734" cy="65836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3</a:t>
            </a:r>
          </a:p>
          <a:p>
            <a:pPr algn="ctr"/>
            <a:r>
              <a:rPr sz="1250" b="1">
                <a:solidFill>
                  <a:srgbClr val="FFFFFF"/>
                </a:solidFill>
              </a:rPr>
              <a:t>사용 판별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UsageResolver</a:t>
            </a:r>
          </a:p>
        </p:txBody>
      </p:sp>
      <p:sp>
        <p:nvSpPr>
          <p:cNvPr id="16" name="Chevron 15"/>
          <p:cNvSpPr/>
          <p:nvPr/>
        </p:nvSpPr>
        <p:spPr>
          <a:xfrm>
            <a:off x="4716018" y="2980944"/>
            <a:ext cx="146304" cy="274320"/>
          </a:xfrm>
          <a:prstGeom prst="chevron">
            <a:avLst/>
          </a:prstGeom>
          <a:solidFill>
            <a:srgbClr val="BFBFBF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2132" y="3493007"/>
            <a:ext cx="1392174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950" b="0">
                <a:solidFill>
                  <a:srgbClr val="404040"/>
                </a:solidFill>
              </a:rPr>
              <a:t>기기별 사용 상태</a:t>
            </a:r>
          </a:p>
          <a:p>
            <a:pPr algn="ctr"/>
            <a:r>
              <a:rPr sz="950" b="0">
                <a:solidFill>
                  <a:srgbClr val="404040"/>
                </a:solidFill>
              </a:rPr>
              <a:t>판별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89753" y="2788920"/>
            <a:ext cx="1300734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4</a:t>
            </a:r>
          </a:p>
          <a:p>
            <a:pPr algn="ctr"/>
            <a:r>
              <a:rPr sz="1250" b="1">
                <a:solidFill>
                  <a:srgbClr val="FFFFFF"/>
                </a:solidFill>
              </a:rPr>
              <a:t>계약 동기화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ContractSync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4033" y="3493007"/>
            <a:ext cx="1392174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950" b="0">
                <a:solidFill>
                  <a:srgbClr val="404040"/>
                </a:solidFill>
              </a:rPr>
              <a:t>계약 신규·갱신</a:t>
            </a:r>
          </a:p>
          <a:p>
            <a:pPr algn="ctr"/>
            <a:r>
              <a:rPr sz="950" b="0">
                <a:solidFill>
                  <a:srgbClr val="404040"/>
                </a:solidFill>
              </a:rPr>
              <a:t>예외 규칙 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959352"/>
            <a:ext cx="58064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구성 요소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4048" y="4251960"/>
          <a:ext cx="5806439" cy="14813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57400"/>
                <a:gridCol w="3749039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구성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62626"/>
                          </a:solidFill>
                        </a:rPr>
                        <a:t>InboundController / Advice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B015 수신 엔드포인트, 예외 응답 처리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62626"/>
                          </a:solidFill>
                        </a:rPr>
                        <a:t>OrderIngestService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주문 데이터 파싱, 기기·일자 단위 적재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62626"/>
                          </a:solidFill>
                        </a:rPr>
                        <a:t>DeviceUsageResolver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기기별 사용 상태 판별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</a:rPr>
                        <a:t>ContractSyncService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계약 신규 등록·갱신, 계약 공유 처리 (비동기)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62626"/>
                          </a:solidFill>
                        </a:rPr>
                        <a:t>OrderDeviceDay Mapper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적재·조회 SQL (MyBatis XML)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84048" y="5806440"/>
            <a:ext cx="58064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품질 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" y="6080760"/>
            <a:ext cx="571500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>
                <a:solidFill>
                  <a:srgbClr val="262626"/>
                </a:solidFill>
              </a:rPr>
              <a:t>- Controller·Service·Mapper·Model </a:t>
            </a:r>
            <a:r>
              <a:rPr sz="1050" b="1">
                <a:solidFill>
                  <a:srgbClr val="262626"/>
                </a:solidFill>
              </a:rPr>
              <a:t>단위 테스트 8종</a:t>
            </a:r>
            <a:r>
              <a:rPr sz="1050" b="0">
                <a:solidFill>
                  <a:srgbClr val="262626"/>
                </a:solidFill>
              </a:rPr>
              <a:t> 작성, 규칙 변경 시 테스트 동반 수정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097280"/>
            <a:ext cx="5440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300" b="1">
                <a:solidFill>
                  <a:srgbClr val="000000"/>
                </a:solidFill>
              </a:rPr>
              <a:t>【 OASYS 연동 아키텍처 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508760"/>
            <a:ext cx="3611880" cy="2971800"/>
          </a:xfrm>
          <a:prstGeom prst="rect">
            <a:avLst/>
          </a:prstGeom>
          <a:noFill/>
          <a:ln w="12700">
            <a:solidFill>
              <a:srgbClr val="808080"/>
            </a:solidFill>
            <a:prstDash val="dash"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1527048"/>
            <a:ext cx="2743200" cy="228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1">
                <a:solidFill>
                  <a:srgbClr val="808080"/>
                </a:solidFill>
              </a:rPr>
              <a:t>NAMUHX 백엔드 (backend-api-main)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1828800"/>
            <a:ext cx="1371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262626"/>
                </a:solidFill>
              </a:rPr>
              <a:t>OASYS</a:t>
            </a:r>
          </a:p>
          <a:p>
            <a:pPr algn="ctr"/>
            <a:r>
              <a:rPr sz="850" b="0">
                <a:solidFill>
                  <a:srgbClr val="262626"/>
                </a:solidFill>
              </a:rPr>
              <a:t>주문·계약 시스템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26679" y="2176272"/>
            <a:ext cx="640081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</p:cxnSp>
      <p:sp>
        <p:nvSpPr>
          <p:cNvPr id="29" name="TextBox 28"/>
          <p:cNvSpPr txBox="1"/>
          <p:nvPr/>
        </p:nvSpPr>
        <p:spPr>
          <a:xfrm>
            <a:off x="7726679" y="2231136"/>
            <a:ext cx="411480" cy="22860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ctr"/>
            <a:r>
              <a:rPr sz="850" b="1">
                <a:solidFill>
                  <a:srgbClr val="404040"/>
                </a:solidFill>
              </a:rPr>
              <a:t>B015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1828800"/>
            <a:ext cx="1463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262626"/>
                </a:solidFill>
              </a:rPr>
              <a:t>Inbound API</a:t>
            </a:r>
          </a:p>
          <a:p>
            <a:pPr algn="ctr"/>
            <a:r>
              <a:rPr sz="850" b="0">
                <a:solidFill>
                  <a:srgbClr val="262626"/>
                </a:solidFill>
              </a:rPr>
              <a:t>Controller·Advice</a:t>
            </a:r>
          </a:p>
        </p:txBody>
      </p:sp>
      <p:sp>
        <p:nvSpPr>
          <p:cNvPr id="31" name="Oval 30"/>
          <p:cNvSpPr/>
          <p:nvPr/>
        </p:nvSpPr>
        <p:spPr>
          <a:xfrm>
            <a:off x="9692640" y="1719072"/>
            <a:ext cx="237744" cy="237744"/>
          </a:xfrm>
          <a:prstGeom prst="ellipse">
            <a:avLst/>
          </a:prstGeom>
          <a:solidFill>
            <a:srgbClr val="C00000"/>
          </a:solidFill>
          <a:ln w="15875">
            <a:solidFill>
              <a:srgbClr val="FFFFFF"/>
            </a:solidFill>
          </a:ln>
        </p:spPr>
        <p:txBody>
          <a:bodyPr rtlCol="0" anchor="ctr" lIns="0" rIns="0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829800" y="2176272"/>
            <a:ext cx="32004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</p:cxnSp>
      <p:sp>
        <p:nvSpPr>
          <p:cNvPr id="33" name="Rectangle 32"/>
          <p:cNvSpPr/>
          <p:nvPr/>
        </p:nvSpPr>
        <p:spPr>
          <a:xfrm>
            <a:off x="10149840" y="1828800"/>
            <a:ext cx="1463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262626"/>
                </a:solidFill>
              </a:rPr>
              <a:t>주문 적재</a:t>
            </a:r>
          </a:p>
          <a:p>
            <a:pPr algn="ctr"/>
            <a:r>
              <a:rPr sz="850" b="0">
                <a:solidFill>
                  <a:srgbClr val="262626"/>
                </a:solidFill>
              </a:rPr>
              <a:t>IngestService</a:t>
            </a:r>
          </a:p>
        </p:txBody>
      </p:sp>
      <p:sp>
        <p:nvSpPr>
          <p:cNvPr id="34" name="Oval 33"/>
          <p:cNvSpPr/>
          <p:nvPr/>
        </p:nvSpPr>
        <p:spPr>
          <a:xfrm>
            <a:off x="11475720" y="1719072"/>
            <a:ext cx="237744" cy="237744"/>
          </a:xfrm>
          <a:prstGeom prst="ellipse">
            <a:avLst/>
          </a:prstGeom>
          <a:solidFill>
            <a:srgbClr val="C00000"/>
          </a:solidFill>
          <a:ln w="15875">
            <a:solidFill>
              <a:srgbClr val="FFFFFF"/>
            </a:solidFill>
          </a:ln>
        </p:spPr>
        <p:txBody>
          <a:bodyPr rtlCol="0" anchor="ctr" lIns="0" rIns="0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881360" y="2514600"/>
            <a:ext cx="0" cy="36576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</p:cxnSp>
      <p:sp>
        <p:nvSpPr>
          <p:cNvPr id="36" name="Rectangle 35"/>
          <p:cNvSpPr/>
          <p:nvPr/>
        </p:nvSpPr>
        <p:spPr>
          <a:xfrm>
            <a:off x="10149840" y="288036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262626"/>
                </a:solidFill>
              </a:rPr>
              <a:t>사용 판별</a:t>
            </a:r>
          </a:p>
          <a:p>
            <a:pPr algn="ctr"/>
            <a:r>
              <a:rPr sz="850" b="0">
                <a:solidFill>
                  <a:srgbClr val="262626"/>
                </a:solidFill>
              </a:rPr>
              <a:t>UsageResolver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9829800" y="3154680"/>
            <a:ext cx="32004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</p:cxnSp>
      <p:sp>
        <p:nvSpPr>
          <p:cNvPr id="38" name="Rectangle 37"/>
          <p:cNvSpPr/>
          <p:nvPr/>
        </p:nvSpPr>
        <p:spPr>
          <a:xfrm>
            <a:off x="8366760" y="2834640"/>
            <a:ext cx="1463040" cy="640080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계약 동기화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ContractSync·Async</a:t>
            </a:r>
          </a:p>
        </p:txBody>
      </p:sp>
      <p:sp>
        <p:nvSpPr>
          <p:cNvPr id="39" name="Oval 38"/>
          <p:cNvSpPr/>
          <p:nvPr/>
        </p:nvSpPr>
        <p:spPr>
          <a:xfrm>
            <a:off x="9692640" y="2724912"/>
            <a:ext cx="237744" cy="237744"/>
          </a:xfrm>
          <a:prstGeom prst="ellipse">
            <a:avLst/>
          </a:prstGeom>
          <a:solidFill>
            <a:srgbClr val="C00000"/>
          </a:solidFill>
          <a:ln w="15875">
            <a:solidFill>
              <a:srgbClr val="FFFFFF"/>
            </a:solidFill>
          </a:ln>
        </p:spPr>
        <p:txBody>
          <a:bodyPr rtlCol="0" anchor="ctr" lIns="0" rIns="0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" name="Can 39"/>
          <p:cNvSpPr/>
          <p:nvPr/>
        </p:nvSpPr>
        <p:spPr>
          <a:xfrm>
            <a:off x="10287000" y="3703320"/>
            <a:ext cx="1188720" cy="640080"/>
          </a:xfrm>
          <a:prstGeom prst="can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800" b="1">
                <a:solidFill>
                  <a:srgbClr val="262626"/>
                </a:solidFill>
              </a:rPr>
              <a:t>order_device_day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881360" y="3429000"/>
            <a:ext cx="0" cy="320039"/>
          </a:xfrm>
          <a:prstGeom prst="line">
            <a:avLst/>
          </a:prstGeom>
          <a:ln w="12700">
            <a:solidFill>
              <a:srgbClr val="808080"/>
            </a:solidFill>
            <a:prstDash val="dash"/>
            <a:tailEnd type="triangle"/>
          </a:ln>
        </p:spPr>
      </p:cxnSp>
      <p:sp>
        <p:nvSpPr>
          <p:cNvPr id="42" name="Can 41"/>
          <p:cNvSpPr/>
          <p:nvPr/>
        </p:nvSpPr>
        <p:spPr>
          <a:xfrm>
            <a:off x="8503920" y="3703320"/>
            <a:ext cx="1188720" cy="640080"/>
          </a:xfrm>
          <a:prstGeom prst="can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850" b="1">
                <a:solidFill>
                  <a:srgbClr val="262626"/>
                </a:solidFill>
              </a:rPr>
              <a:t>contract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098280" y="3474720"/>
            <a:ext cx="0" cy="274319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</p:cxnSp>
      <p:sp>
        <p:nvSpPr>
          <p:cNvPr id="44" name="Rectangle 43"/>
          <p:cNvSpPr/>
          <p:nvPr/>
        </p:nvSpPr>
        <p:spPr>
          <a:xfrm>
            <a:off x="6355080" y="2834640"/>
            <a:ext cx="1691640" cy="1508760"/>
          </a:xfrm>
          <a:prstGeom prst="rect">
            <a:avLst/>
          </a:prstGeom>
          <a:solidFill>
            <a:srgbClr val="FBEAEA"/>
          </a:solidFill>
          <a:ln w="12700">
            <a:solidFill>
              <a:srgbClr val="C00000"/>
            </a:solidFill>
            <a:prstDash val="dash"/>
          </a:ln>
        </p:spPr>
        <p:txBody>
          <a:bodyPr rtlCol="0" anchor="ctr" tIns="27432" bIns="27432" wrap="square"/>
          <a:lstStyle/>
          <a:p>
            <a:pPr algn="ctr"/>
            <a:r>
              <a:rPr sz="1000" b="1">
                <a:solidFill>
                  <a:srgbClr val="C00000"/>
                </a:solidFill>
              </a:rPr>
              <a:t>예외 규칙</a:t>
            </a:r>
          </a:p>
          <a:p>
            <a:pPr algn="l"/>
            <a:r>
              <a:rPr sz="900" b="0">
                <a:solidFill>
                  <a:srgbClr val="262626"/>
                </a:solidFill>
              </a:rPr>
              <a:t>· 계약 공유</a:t>
            </a:r>
          </a:p>
          <a:p>
            <a:pPr algn="l"/>
            <a:r>
              <a:rPr sz="850" b="0">
                <a:solidFill>
                  <a:srgbClr val="262626"/>
                </a:solidFill>
              </a:rPr>
              <a:t>  (복수 기기 1계약)</a:t>
            </a:r>
          </a:p>
          <a:p>
            <a:pPr algn="l"/>
            <a:r>
              <a:rPr sz="900" b="0">
                <a:solidFill>
                  <a:srgbClr val="262626"/>
                </a:solidFill>
              </a:rPr>
              <a:t>· 세이프 계약번호</a:t>
            </a:r>
          </a:p>
          <a:p>
            <a:pPr algn="l"/>
            <a:r>
              <a:rPr sz="850" b="0">
                <a:solidFill>
                  <a:srgbClr val="262626"/>
                </a:solidFill>
              </a:rPr>
              <a:t>  contract 갱신 제외</a:t>
            </a:r>
          </a:p>
        </p:txBody>
      </p:sp>
      <p:sp>
        <p:nvSpPr>
          <p:cNvPr id="45" name="Oval 44"/>
          <p:cNvSpPr/>
          <p:nvPr/>
        </p:nvSpPr>
        <p:spPr>
          <a:xfrm>
            <a:off x="7909560" y="2724912"/>
            <a:ext cx="237744" cy="237744"/>
          </a:xfrm>
          <a:prstGeom prst="ellipse">
            <a:avLst/>
          </a:prstGeom>
          <a:solidFill>
            <a:srgbClr val="C00000"/>
          </a:solidFill>
          <a:ln w="15875">
            <a:solidFill>
              <a:srgbClr val="FFFFFF"/>
            </a:solidFill>
          </a:ln>
        </p:spPr>
        <p:txBody>
          <a:bodyPr rtlCol="0" anchor="ctr" lIns="0" rIns="0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046720" y="3154680"/>
            <a:ext cx="320040" cy="0"/>
          </a:xfrm>
          <a:prstGeom prst="line">
            <a:avLst/>
          </a:prstGeom>
          <a:ln w="15875">
            <a:solidFill>
              <a:srgbClr val="C00000"/>
            </a:solidFill>
            <a:prstDash val="dash"/>
            <a:tailEnd type="triangle"/>
          </a:ln>
        </p:spPr>
      </p:cxnSp>
      <p:sp>
        <p:nvSpPr>
          <p:cNvPr id="47" name="TextBox 46"/>
          <p:cNvSpPr txBox="1"/>
          <p:nvPr/>
        </p:nvSpPr>
        <p:spPr>
          <a:xfrm>
            <a:off x="6355080" y="4663440"/>
            <a:ext cx="5440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300" b="1">
                <a:solidFill>
                  <a:srgbClr val="000000"/>
                </a:solidFill>
              </a:rPr>
              <a:t>【 추진 경과 】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537960" y="5349240"/>
            <a:ext cx="5074920" cy="0"/>
          </a:xfrm>
          <a:prstGeom prst="line">
            <a:avLst/>
          </a:prstGeom>
          <a:ln w="25400">
            <a:solidFill>
              <a:srgbClr val="A6A6A6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6547104" y="5266944"/>
            <a:ext cx="164592" cy="164592"/>
          </a:xfrm>
          <a:prstGeom prst="ellipse">
            <a:avLst/>
          </a:prstGeom>
          <a:solidFill>
            <a:srgbClr val="2D2D8A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0760" y="4937759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000" b="1">
                <a:solidFill>
                  <a:srgbClr val="262626"/>
                </a:solidFill>
              </a:rPr>
              <a:t>8/12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5486400"/>
            <a:ext cx="118872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900" b="0">
                <a:solidFill>
                  <a:srgbClr val="404040"/>
                </a:solidFill>
              </a:rPr>
              <a:t>실고객 엑셀</a:t>
            </a:r>
          </a:p>
          <a:p>
            <a:pPr algn="ctr"/>
            <a:r>
              <a:rPr sz="900" b="0">
                <a:solidFill>
                  <a:srgbClr val="404040"/>
                </a:solidFill>
              </a:rPr>
              <a:t>업로드 개발</a:t>
            </a:r>
          </a:p>
        </p:txBody>
      </p:sp>
      <p:sp>
        <p:nvSpPr>
          <p:cNvPr id="52" name="Oval 51"/>
          <p:cNvSpPr/>
          <p:nvPr/>
        </p:nvSpPr>
        <p:spPr>
          <a:xfrm>
            <a:off x="7770114" y="5266944"/>
            <a:ext cx="164592" cy="16459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03770" y="4937759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000" b="1">
                <a:solidFill>
                  <a:srgbClr val="262626"/>
                </a:solidFill>
              </a:rPr>
              <a:t>8/21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58050" y="5486400"/>
            <a:ext cx="118872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900" b="0">
                <a:solidFill>
                  <a:srgbClr val="404040"/>
                </a:solidFill>
              </a:rPr>
              <a:t>B015 수신·적재</a:t>
            </a:r>
          </a:p>
          <a:p>
            <a:pPr algn="ctr"/>
            <a:r>
              <a:rPr sz="900" b="0">
                <a:solidFill>
                  <a:srgbClr val="404040"/>
                </a:solidFill>
              </a:rPr>
              <a:t>1차 구축</a:t>
            </a:r>
          </a:p>
        </p:txBody>
      </p:sp>
      <p:sp>
        <p:nvSpPr>
          <p:cNvPr id="55" name="Oval 54"/>
          <p:cNvSpPr/>
          <p:nvPr/>
        </p:nvSpPr>
        <p:spPr>
          <a:xfrm>
            <a:off x="8993124" y="5266944"/>
            <a:ext cx="164592" cy="164592"/>
          </a:xfrm>
          <a:prstGeom prst="ellipse">
            <a:avLst/>
          </a:prstGeom>
          <a:solidFill>
            <a:srgbClr val="2D2D8A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26780" y="4937759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000" b="1">
                <a:solidFill>
                  <a:srgbClr val="262626"/>
                </a:solidFill>
              </a:rPr>
              <a:t>8/26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1060" y="5486400"/>
            <a:ext cx="118872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900" b="0">
                <a:solidFill>
                  <a:srgbClr val="404040"/>
                </a:solidFill>
              </a:rPr>
              <a:t>계약 동기화</a:t>
            </a:r>
          </a:p>
          <a:p>
            <a:pPr algn="ctr"/>
            <a:r>
              <a:rPr sz="900" b="0">
                <a:solidFill>
                  <a:srgbClr val="404040"/>
                </a:solidFill>
              </a:rPr>
              <a:t>리팩터링·공유</a:t>
            </a:r>
          </a:p>
        </p:txBody>
      </p:sp>
      <p:sp>
        <p:nvSpPr>
          <p:cNvPr id="58" name="Oval 57"/>
          <p:cNvSpPr/>
          <p:nvPr/>
        </p:nvSpPr>
        <p:spPr>
          <a:xfrm>
            <a:off x="10216134" y="5266944"/>
            <a:ext cx="164592" cy="164592"/>
          </a:xfrm>
          <a:prstGeom prst="ellipse">
            <a:avLst/>
          </a:prstGeom>
          <a:solidFill>
            <a:srgbClr val="2D2D8A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49790" y="4937759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000" b="1">
                <a:solidFill>
                  <a:srgbClr val="262626"/>
                </a:solidFill>
              </a:rPr>
              <a:t>9/1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04069" y="5486400"/>
            <a:ext cx="118872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900" b="0">
                <a:solidFill>
                  <a:srgbClr val="404040"/>
                </a:solidFill>
              </a:rPr>
              <a:t>main 선반영분</a:t>
            </a:r>
          </a:p>
          <a:p>
            <a:pPr algn="ctr"/>
            <a:r>
              <a:rPr sz="900" b="0">
                <a:solidFill>
                  <a:srgbClr val="404040"/>
                </a:solidFill>
              </a:rPr>
              <a:t>원복·안정화</a:t>
            </a:r>
          </a:p>
        </p:txBody>
      </p:sp>
      <p:sp>
        <p:nvSpPr>
          <p:cNvPr id="61" name="Oval 60"/>
          <p:cNvSpPr/>
          <p:nvPr/>
        </p:nvSpPr>
        <p:spPr>
          <a:xfrm>
            <a:off x="11439144" y="5266944"/>
            <a:ext cx="164592" cy="16459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972800" y="4937759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000" b="1">
                <a:solidFill>
                  <a:srgbClr val="262626"/>
                </a:solidFill>
              </a:rPr>
              <a:t>9/7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27080" y="5486400"/>
            <a:ext cx="118872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900" b="0">
                <a:solidFill>
                  <a:srgbClr val="404040"/>
                </a:solidFill>
              </a:rPr>
              <a:t>세이프 계약</a:t>
            </a:r>
          </a:p>
          <a:p>
            <a:pPr algn="ctr"/>
            <a:r>
              <a:rPr sz="900" b="0">
                <a:solidFill>
                  <a:srgbClr val="404040"/>
                </a:solidFill>
              </a:rPr>
              <a:t>예외 규칙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55080" y="6144768"/>
            <a:ext cx="544068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0">
                <a:solidFill>
                  <a:srgbClr val="808080"/>
                </a:solidFill>
              </a:rPr>
              <a:t>※ GitLab 커밋 일자 기준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786384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200" b="1">
                <a:solidFill>
                  <a:srgbClr val="000000"/>
                </a:solidFill>
              </a:rPr>
              <a:t>3. 주요 실적_데이터 처리 구조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28016"/>
            <a:ext cx="434340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1500" b="1">
                <a:solidFill>
                  <a:srgbClr val="7F7F7F"/>
                </a:solidFill>
              </a:rPr>
              <a:t>엑셀 업·다운로드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21792"/>
            <a:ext cx="1143000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450" b="1">
                <a:solidFill>
                  <a:srgbClr val="000000"/>
                </a:solidFill>
              </a:rPr>
              <a:t>수작업 데이터 입력은 자동 연동으로 바꾸고, 대용량 엑셀 다운로드는 스트리밍 구조로 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097280"/>
            <a:ext cx="1143000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실고객 데이터 관리 — 엑셀 업로드에서 시스템 연동으로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444752"/>
            <a:ext cx="3977639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200" b="1">
                <a:solidFill>
                  <a:srgbClr val="262626"/>
                </a:solidFill>
              </a:rPr>
              <a:t>【 AS-IS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444752"/>
            <a:ext cx="429768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200" b="1">
                <a:solidFill>
                  <a:srgbClr val="2D2D8A"/>
                </a:solidFill>
              </a:rPr>
              <a:t>【 TO-BE 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444752"/>
            <a:ext cx="2578608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200" b="1">
                <a:solidFill>
                  <a:srgbClr val="C00000"/>
                </a:solidFill>
              </a:rPr>
              <a:t>【 효과 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764792"/>
            <a:ext cx="3977639" cy="13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txBody>
          <a:bodyPr rtlCol="0" anchor="ctr" lIns="128016" rIns="128016" tIns="27432" bIns="27432" wrap="square"/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62626"/>
                </a:solidFill>
              </a:rPr>
              <a:t>운영자 엑셀 업·다운로드 (8/12~8/19 개발)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</a:rPr>
              <a:t>- 실고객 기기 정보를 엑셀 파일로 일괄 등록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</a:rPr>
              <a:t>- 업로드 결과(성공·실패) 리포트, 필드 확장 대응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</a:rPr>
              <a:t>- 파일 작성·업로드 시점에 따라 데이터 반영 지연</a:t>
            </a:r>
          </a:p>
        </p:txBody>
      </p:sp>
      <p:sp>
        <p:nvSpPr>
          <p:cNvPr id="11" name="Chevron 10"/>
          <p:cNvSpPr/>
          <p:nvPr/>
        </p:nvSpPr>
        <p:spPr>
          <a:xfrm>
            <a:off x="4434840" y="2199132"/>
            <a:ext cx="201168" cy="457200"/>
          </a:xfrm>
          <a:prstGeom prst="chevron">
            <a:avLst/>
          </a:prstGeom>
          <a:solidFill>
            <a:srgbClr val="A6A6A6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60" y="1764792"/>
            <a:ext cx="4297680" cy="1325880"/>
          </a:xfrm>
          <a:prstGeom prst="rect">
            <a:avLst/>
          </a:prstGeom>
          <a:solidFill>
            <a:srgbClr val="DAEDEF"/>
          </a:solidFill>
          <a:ln w="9525">
            <a:solidFill>
              <a:srgbClr val="2D2D8A"/>
            </a:solidFill>
          </a:ln>
        </p:spPr>
        <p:txBody>
          <a:bodyPr rtlCol="0" anchor="ctr" lIns="128016" rIns="128016" tIns="27432" bIns="27432" wrap="square"/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D2D8A"/>
                </a:solidFill>
              </a:rPr>
              <a:t>OASYS B015 주문 I/F 자동 수신 (8/21~)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</a:rPr>
              <a:t>- 주문 발생 시 API로 수신해 기기·일자 단위 적재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</a:rPr>
              <a:t>- 계약 테이블까지 자동 동기화 (비동기)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</a:rPr>
              <a:t>- 기존 RealCustomer 엑셀 모듈 정리 (약 1,300 lines)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764792"/>
            <a:ext cx="257860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rtlCol="0" anchor="ctr" lIns="128016" rIns="128016" tIns="27432" bIns="27432" wrap="square"/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▶ </a:t>
            </a:r>
            <a:r>
              <a:rPr sz="1100" b="1">
                <a:solidFill>
                  <a:srgbClr val="262626"/>
                </a:solidFill>
              </a:rPr>
              <a:t>수기 업로드 제거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▶ 데이터 </a:t>
            </a:r>
            <a:r>
              <a:rPr sz="1100" b="1">
                <a:solidFill>
                  <a:srgbClr val="262626"/>
                </a:solidFill>
              </a:rPr>
              <a:t>정합성·적시성</a:t>
            </a:r>
            <a:r>
              <a:rPr sz="1100" b="0">
                <a:solidFill>
                  <a:srgbClr val="262626"/>
                </a:solidFill>
              </a:rPr>
              <a:t> 확보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▶ 운영 인력 부담 감소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246120"/>
            <a:ext cx="1143000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대용량 엑셀 다운로드 최적화 — 에러 통계 다운로드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593591"/>
            <a:ext cx="3977639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200" b="1">
                <a:solidFill>
                  <a:srgbClr val="262626"/>
                </a:solidFill>
              </a:rPr>
              <a:t>【 AS-IS 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593591"/>
            <a:ext cx="429768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200" b="1">
                <a:solidFill>
                  <a:srgbClr val="2D2D8A"/>
                </a:solidFill>
              </a:rPr>
              <a:t>【 TO-BE 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593591"/>
            <a:ext cx="2578608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200" b="1">
                <a:solidFill>
                  <a:srgbClr val="C00000"/>
                </a:solidFill>
              </a:rPr>
              <a:t>【 효과 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913631"/>
            <a:ext cx="3977639" cy="13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txBody>
          <a:bodyPr rtlCol="0" anchor="ctr" lIns="128016" rIns="128016" tIns="27432" bIns="27432" wrap="square"/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62626"/>
                </a:solidFill>
              </a:rPr>
              <a:t>전체 행 메모리 적재 후 일괄 생성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</a:rPr>
              <a:t>- 조회 결과 전체를 메모리에 올려 워크북 생성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</a:rPr>
              <a:t>- 데이터가 많을수록 메모리 사용·응답 지연 증가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</a:rPr>
              <a:t>- 다운로드 가능 행 수 제한 없음</a:t>
            </a:r>
          </a:p>
        </p:txBody>
      </p:sp>
      <p:sp>
        <p:nvSpPr>
          <p:cNvPr id="19" name="Chevron 18"/>
          <p:cNvSpPr/>
          <p:nvPr/>
        </p:nvSpPr>
        <p:spPr>
          <a:xfrm>
            <a:off x="4434840" y="4347971"/>
            <a:ext cx="201168" cy="457200"/>
          </a:xfrm>
          <a:prstGeom prst="chevron">
            <a:avLst/>
          </a:prstGeom>
          <a:solidFill>
            <a:srgbClr val="A6A6A6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9160" y="3913631"/>
            <a:ext cx="4297680" cy="1325880"/>
          </a:xfrm>
          <a:prstGeom prst="rect">
            <a:avLst/>
          </a:prstGeom>
          <a:solidFill>
            <a:srgbClr val="DAEDEF"/>
          </a:solidFill>
          <a:ln w="9525">
            <a:solidFill>
              <a:srgbClr val="2D2D8A"/>
            </a:solidFill>
          </a:ln>
        </p:spPr>
        <p:txBody>
          <a:bodyPr rtlCol="0" anchor="ctr" lIns="128016" rIns="128016" tIns="27432" bIns="27432" wrap="square"/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D2D8A"/>
                </a:solidFill>
              </a:rPr>
              <a:t>스트리밍 생성 + 행 수 사전 체크 (8/31)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</a:rPr>
              <a:t>- Row Access Window 만큼만 메모리 유지, 나머지는 flush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</a:rPr>
              <a:t>- 다운로드 전 최대 행 수 검사 → 초과 요청 사전 차단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</a:rPr>
              <a:t>- Window 크기 튜닝(hotfix) + 스트리밍 단위 테스트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3913631"/>
            <a:ext cx="257860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rtlCol="0" anchor="ctr" lIns="128016" rIns="128016" tIns="27432" bIns="27432" wrap="square"/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▶ </a:t>
            </a:r>
            <a:r>
              <a:rPr sz="1100" b="1">
                <a:solidFill>
                  <a:srgbClr val="262626"/>
                </a:solidFill>
              </a:rPr>
              <a:t>메모리 사용량 일정 유지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▶ 과도한 요청 </a:t>
            </a:r>
            <a:r>
              <a:rPr sz="1100" b="1">
                <a:solidFill>
                  <a:srgbClr val="262626"/>
                </a:solidFill>
              </a:rPr>
              <a:t>사전 차단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▶ 타 통계 다운로드 </a:t>
            </a:r>
            <a:r>
              <a:rPr sz="1100" b="1">
                <a:solidFill>
                  <a:srgbClr val="262626"/>
                </a:solidFill>
              </a:rPr>
              <a:t>재사용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5486400"/>
            <a:ext cx="1143000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262626"/>
                </a:solidFill>
              </a:rPr>
              <a:t>□ 공통 적용 — ExcelUtil 공통 모듈화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" y="5779008"/>
            <a:ext cx="1124712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 marL="128016" indent="-128016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</a:rPr>
              <a:t>- 엑셀 업·다운로드 로직을 </a:t>
            </a:r>
            <a:r>
              <a:rPr sz="1050" b="1">
                <a:solidFill>
                  <a:srgbClr val="262626"/>
                </a:solidFill>
              </a:rPr>
              <a:t>공통 유틸(ExcelUtil)</a:t>
            </a:r>
            <a:r>
              <a:rPr sz="1050" b="0">
                <a:solidFill>
                  <a:srgbClr val="262626"/>
                </a:solidFill>
              </a:rPr>
              <a:t>로 묶어 화면별 중복 구현 없이 재사용, 스트리밍 방식 별도 테스트(ExcelUtilStreamTest)로 검증</a:t>
            </a:r>
          </a:p>
          <a:p>
            <a:pPr algn="l" marL="128016" indent="-128016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</a:rPr>
              <a:t>- 통계 쿼리 유지보수: LLM 대화 수 집계 식별자 변경(sk11 → sk19) 및 신규 요청 로그 패턴 반영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786384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200" b="1">
                <a:solidFill>
                  <a:srgbClr val="000000"/>
                </a:solidFill>
              </a:rPr>
              <a:t>4. 주요 실적_기기 제어·이력 서비스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28016"/>
            <a:ext cx="434340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1500" b="1">
                <a:solidFill>
                  <a:srgbClr val="7F7F7F"/>
                </a:solidFill>
              </a:rPr>
              <a:t>IoT · 이력 · 공기질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21792"/>
            <a:ext cx="1143000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450" b="1">
                <a:solidFill>
                  <a:srgbClr val="000000"/>
                </a:solidFill>
              </a:rPr>
              <a:t>A1·Airbot 제품과 연동되는 제어·이력·조회 API를 확장해 신규 서비스 요구사항을 적기에 지원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09728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주요 개발 항목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1417320"/>
          <a:ext cx="6400800" cy="26883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7240"/>
                <a:gridCol w="4892040"/>
                <a:gridCol w="7315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개발 내용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시기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보안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DCE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</a:rPr>
                        <a:t>LLM 음성데이터 암호화</a:t>
                      </a:r>
                      <a:r>
                        <a:rPr sz="1000" b="0">
                          <a:solidFill>
                            <a:srgbClr val="262626"/>
                          </a:solidFill>
                        </a:rPr>
                        <a:t>용 S3 URL 전달 로직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  IoT Topic 추가, 환경별(prod / stg / vdi) 설정 분리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EE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7월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EEF0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이력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</a:rPr>
                        <a:t>청소·구역청소 결과 7일 이력</a:t>
                      </a:r>
                      <a:r>
                        <a:rPr sz="1000" b="0">
                          <a:solidFill>
                            <a:srgbClr val="262626"/>
                          </a:solidFill>
                        </a:rPr>
                        <a:t> 조회 신규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404040"/>
                          </a:solidFill>
                        </a:rPr>
                        <a:t>  History 쿼리 약 150 lines 추가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7월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이력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알람 이력 저장 필드 확장, VIP VOC 상태 기준 이력 필터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6~7월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제어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VIP 에러코드 처리 시 </a:t>
                      </a:r>
                      <a:r>
                        <a:rPr sz="1000" b="1">
                          <a:solidFill>
                            <a:srgbClr val="262626"/>
                          </a:solidFill>
                        </a:rPr>
                        <a:t>OASYS 기기 조회 호출 최소화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8월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맵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맵 변환 시 로그인 ID 기준 언어 설정 조회, SLAM 맵 변환 콜백 인증 예외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7·9월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공기질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Airbot 공간별·전체 공간 공기질 조회 API, 중복 권한 체크 정리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5월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434340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업무 수행 포인트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4636008"/>
            <a:ext cx="6309360" cy="17373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 marL="128016" indent="-128016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</a:rPr>
              <a:t>- </a:t>
            </a:r>
            <a:r>
              <a:rPr sz="1050" b="1">
                <a:solidFill>
                  <a:srgbClr val="262626"/>
                </a:solidFill>
              </a:rPr>
              <a:t>dev → stg 단계 검증</a:t>
            </a:r>
            <a:r>
              <a:rPr sz="1050" b="0">
                <a:solidFill>
                  <a:srgbClr val="262626"/>
                </a:solidFill>
              </a:rPr>
              <a:t> 후 운영 반영, 반영 시점 조정이 필요한 기능은 원복·재반영으로 관리</a:t>
            </a:r>
          </a:p>
          <a:p>
            <a:pPr algn="l" marL="128016" indent="-128016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</a:rPr>
              <a:t>- 외부 시스템 호출이 잦은 에러 처리 경로를 찾아 </a:t>
            </a:r>
            <a:r>
              <a:rPr sz="1050" b="1">
                <a:solidFill>
                  <a:srgbClr val="262626"/>
                </a:solidFill>
              </a:rPr>
              <a:t>불필요한 호출 제거</a:t>
            </a:r>
            <a:r>
              <a:rPr sz="1050" b="0">
                <a:solidFill>
                  <a:srgbClr val="262626"/>
                </a:solidFill>
              </a:rPr>
              <a:t> → 응답 지연·연동 부하 감소</a:t>
            </a:r>
          </a:p>
          <a:p>
            <a:pPr algn="l" marL="128016" indent="-128016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</a:rPr>
              <a:t>- 환경별 설정을 분리해 </a:t>
            </a:r>
            <a:r>
              <a:rPr sz="1050" b="1">
                <a:solidFill>
                  <a:srgbClr val="262626"/>
                </a:solidFill>
              </a:rPr>
              <a:t>배포 환경 간 설정 누락 위험 차단</a:t>
            </a:r>
          </a:p>
          <a:p>
            <a:pPr algn="l" marL="128016" indent="-128016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</a:rPr>
              <a:t>- 이력 조회 기간 확장(7일)으로 </a:t>
            </a:r>
            <a:r>
              <a:rPr sz="1050" b="1">
                <a:solidFill>
                  <a:srgbClr val="262626"/>
                </a:solidFill>
              </a:rPr>
              <a:t>고객 문의(CS) 대응 근거 데이터 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097280"/>
            <a:ext cx="4727448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300" b="1">
                <a:solidFill>
                  <a:srgbClr val="000000"/>
                </a:solidFill>
              </a:rPr>
              <a:t>【 LLM 음성데이터 암호화 연동 흐름 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1508760"/>
            <a:ext cx="4727448" cy="306324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69480" y="1783080"/>
            <a:ext cx="1234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262626"/>
                </a:solidFill>
              </a:rPr>
              <a:t>A1 (제품)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783080"/>
            <a:ext cx="1188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000" b="1">
                <a:solidFill>
                  <a:srgbClr val="262626"/>
                </a:solidFill>
              </a:rPr>
              <a:t>AWS IoT Core</a:t>
            </a:r>
          </a:p>
          <a:p>
            <a:pPr algn="ctr"/>
            <a:r>
              <a:rPr sz="850" b="0">
                <a:solidFill>
                  <a:srgbClr val="262626"/>
                </a:solidFill>
              </a:rPr>
              <a:t>MQTT Topic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78440" y="1783080"/>
            <a:ext cx="1280160" cy="685800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백엔드 API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Request/Response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DeviceService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03920" y="2011680"/>
            <a:ext cx="36576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</p:cxnSp>
      <p:cxnSp>
        <p:nvCxnSpPr>
          <p:cNvPr id="16" name="Connector 15"/>
          <p:cNvCxnSpPr/>
          <p:nvPr/>
        </p:nvCxnSpPr>
        <p:spPr>
          <a:xfrm>
            <a:off x="10058400" y="2011680"/>
            <a:ext cx="32004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</p:cxnSp>
      <p:cxnSp>
        <p:nvCxnSpPr>
          <p:cNvPr id="17" name="Connector 16"/>
          <p:cNvCxnSpPr/>
          <p:nvPr/>
        </p:nvCxnSpPr>
        <p:spPr>
          <a:xfrm flipH="1">
            <a:off x="8503920" y="2267712"/>
            <a:ext cx="365760" cy="0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</p:cxnSp>
      <p:cxnSp>
        <p:nvCxnSpPr>
          <p:cNvPr id="18" name="Connector 17"/>
          <p:cNvCxnSpPr/>
          <p:nvPr/>
        </p:nvCxnSpPr>
        <p:spPr>
          <a:xfrm flipH="1">
            <a:off x="10058400" y="2267712"/>
            <a:ext cx="320040" cy="0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</p:cxnSp>
      <p:sp>
        <p:nvSpPr>
          <p:cNvPr id="19" name="Oval 18"/>
          <p:cNvSpPr/>
          <p:nvPr/>
        </p:nvSpPr>
        <p:spPr>
          <a:xfrm>
            <a:off x="11521440" y="1673352"/>
            <a:ext cx="237744" cy="237744"/>
          </a:xfrm>
          <a:prstGeom prst="ellipse">
            <a:avLst/>
          </a:prstGeom>
          <a:solidFill>
            <a:srgbClr val="C00000"/>
          </a:solidFill>
          <a:ln w="15875">
            <a:solidFill>
              <a:srgbClr val="FFFFFF"/>
            </a:solidFill>
          </a:ln>
        </p:spPr>
        <p:txBody>
          <a:bodyPr rtlCol="0" anchor="ctr" lIns="0" rIns="0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Can 19"/>
          <p:cNvSpPr/>
          <p:nvPr/>
        </p:nvSpPr>
        <p:spPr>
          <a:xfrm>
            <a:off x="7269480" y="3337560"/>
            <a:ext cx="1234440" cy="685800"/>
          </a:xfrm>
          <a:prstGeom prst="can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262626"/>
                </a:solidFill>
              </a:rPr>
              <a:t>S3</a:t>
            </a:r>
          </a:p>
          <a:p>
            <a:pPr algn="ctr"/>
            <a:r>
              <a:rPr sz="850" b="0">
                <a:solidFill>
                  <a:srgbClr val="262626"/>
                </a:solidFill>
              </a:rPr>
              <a:t>음성데이터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82127" y="2468880"/>
            <a:ext cx="0" cy="91440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</p:cxnSp>
      <p:sp>
        <p:nvSpPr>
          <p:cNvPr id="22" name="Oval 21"/>
          <p:cNvSpPr/>
          <p:nvPr/>
        </p:nvSpPr>
        <p:spPr>
          <a:xfrm>
            <a:off x="8001000" y="2743200"/>
            <a:ext cx="237744" cy="237744"/>
          </a:xfrm>
          <a:prstGeom prst="ellipse">
            <a:avLst/>
          </a:prstGeom>
          <a:solidFill>
            <a:srgbClr val="C00000"/>
          </a:solidFill>
          <a:ln w="15875">
            <a:solidFill>
              <a:srgbClr val="FFFFFF"/>
            </a:solidFill>
          </a:ln>
        </p:spPr>
        <p:txBody>
          <a:bodyPr rtlCol="0" anchor="ctr" lIns="0" rIns="0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606040"/>
            <a:ext cx="2971800" cy="1463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950" b="1">
                <a:solidFill>
                  <a:srgbClr val="C00000"/>
                </a:solidFill>
              </a:rPr>
              <a:t>①</a:t>
            </a:r>
            <a:r>
              <a:rPr sz="950" b="0">
                <a:solidFill>
                  <a:srgbClr val="262626"/>
                </a:solidFill>
              </a:rPr>
              <a:t> 서버가 음성데이터 저장용 S3 URL을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62626"/>
                </a:solidFill>
              </a:rPr>
              <a:t>    IoT Topic으로 제품에 전달</a:t>
            </a:r>
          </a:p>
          <a:p>
            <a:pPr algn="l"/>
            <a:r>
              <a:rPr sz="950" b="1">
                <a:solidFill>
                  <a:srgbClr val="C00000"/>
                </a:solidFill>
              </a:rPr>
              <a:t>②</a:t>
            </a:r>
            <a:r>
              <a:rPr sz="950" b="0">
                <a:solidFill>
                  <a:srgbClr val="262626"/>
                </a:solidFill>
              </a:rPr>
              <a:t> 제품이 전달받은 URL로 음성데이터를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62626"/>
                </a:solidFill>
              </a:rPr>
              <a:t>    서버를 거치지 않고 S3에 업로드</a:t>
            </a:r>
          </a:p>
          <a:p>
            <a:pPr algn="l"/>
            <a:r>
              <a:rPr sz="850" b="0">
                <a:solidFill>
                  <a:srgbClr val="808080"/>
                </a:solidFill>
              </a:rPr>
              <a:t>※ Topic·URL 설정은 환경별 application.yml 분리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754880"/>
            <a:ext cx="4727448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300" b="1">
                <a:solidFill>
                  <a:srgbClr val="000000"/>
                </a:solidFill>
              </a:rPr>
              <a:t>【 이력 데이터 확장 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5120640"/>
            <a:ext cx="1484376" cy="868680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000" b="0">
                <a:solidFill>
                  <a:srgbClr val="404040"/>
                </a:solidFill>
              </a:rPr>
              <a:t>청소 결과</a:t>
            </a:r>
          </a:p>
          <a:p>
            <a:pPr algn="ctr"/>
            <a:r>
              <a:rPr sz="1300" b="1">
                <a:solidFill>
                  <a:srgbClr val="2D2D8A"/>
                </a:solidFill>
              </a:rPr>
              <a:t>7일 이력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08136" y="5120640"/>
            <a:ext cx="1484376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000" b="0">
                <a:solidFill>
                  <a:srgbClr val="404040"/>
                </a:solidFill>
              </a:rPr>
              <a:t>알람 이력</a:t>
            </a:r>
          </a:p>
          <a:p>
            <a:pPr algn="ctr"/>
            <a:r>
              <a:rPr sz="1300" b="1">
                <a:solidFill>
                  <a:srgbClr val="2D2D8A"/>
                </a:solidFill>
              </a:rPr>
              <a:t>필드 확장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9672" y="5120640"/>
            <a:ext cx="1484376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000" b="0">
                <a:solidFill>
                  <a:srgbClr val="404040"/>
                </a:solidFill>
              </a:rPr>
              <a:t>VIP VOC</a:t>
            </a:r>
          </a:p>
          <a:p>
            <a:pPr algn="ctr"/>
            <a:r>
              <a:rPr sz="1300" b="1">
                <a:solidFill>
                  <a:srgbClr val="2D2D8A"/>
                </a:solidFill>
              </a:rPr>
              <a:t>상태 필터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786384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200" b="1">
                <a:solidFill>
                  <a:srgbClr val="000000"/>
                </a:solidFill>
              </a:rPr>
              <a:t>5. 주요 실적_인증·보안 및 실시간 통신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28016"/>
            <a:ext cx="434340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1500" b="1">
                <a:solidFill>
                  <a:srgbClr val="7F7F7F"/>
                </a:solidFill>
              </a:rPr>
              <a:t>User · WebSocket ·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21792"/>
            <a:ext cx="1143000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450" b="1">
                <a:solidFill>
                  <a:srgbClr val="000000"/>
                </a:solidFill>
              </a:rPr>
              <a:t>계정 보안 정책을 강화하고, 실시간 양방향 통신과 웹 푸시 채널을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097280"/>
            <a:ext cx="58064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계정·인증 보안 강화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1417320"/>
          <a:ext cx="5806440" cy="2011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1600"/>
                <a:gridCol w="3657600"/>
                <a:gridCol w="77724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수행 내용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시기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비밀번호 정책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비밀번호 </a:t>
                      </a:r>
                      <a:r>
                        <a:rPr sz="1000" b="1">
                          <a:solidFill>
                            <a:srgbClr val="262626"/>
                          </a:solidFill>
                        </a:rPr>
                        <a:t>변경 일시 관리 및 만료 정책</a:t>
                      </a:r>
                      <a:r>
                        <a:rPr sz="1000" b="0">
                          <a:solidFill>
                            <a:srgbClr val="262626"/>
                          </a:solidFill>
                        </a:rPr>
                        <a:t> 적용, 세션 정보에 반영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6월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에러코드 분리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변경 시 </a:t>
                      </a:r>
                      <a:r>
                        <a:rPr sz="1000" b="1">
                          <a:solidFill>
                            <a:srgbClr val="262626"/>
                          </a:solidFill>
                        </a:rPr>
                        <a:t>인증 실패 에러코드 분리</a:t>
                      </a:r>
                      <a:r>
                        <a:rPr sz="1000" b="0">
                          <a:solidFill>
                            <a:srgbClr val="262626"/>
                          </a:solidFill>
                        </a:rPr>
                        <a:t> → 클라이언트 안내 정확화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9월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간편 가입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간편 가입 휴대폰번호 처리 개선, 비인증 URL 정비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4월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토큰 인증 필터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요청 로깅으로 원인 분석 → 분석 완료 후 </a:t>
                      </a:r>
                      <a:r>
                        <a:rPr sz="1000" b="1">
                          <a:solidFill>
                            <a:srgbClr val="262626"/>
                          </a:solidFill>
                        </a:rPr>
                        <a:t>필터 로직 간소화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4월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3611880"/>
            <a:ext cx="58064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비밀번호 정책 처리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3913632"/>
            <a:ext cx="1300734" cy="65836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1</a:t>
            </a:r>
          </a:p>
          <a:p>
            <a:pPr algn="ctr"/>
            <a:r>
              <a:rPr sz="1250" b="1">
                <a:solidFill>
                  <a:srgbClr val="FFFFFF"/>
                </a:solidFill>
              </a:rPr>
              <a:t>로그인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사용자</a:t>
            </a:r>
          </a:p>
        </p:txBody>
      </p:sp>
      <p:sp>
        <p:nvSpPr>
          <p:cNvPr id="10" name="Chevron 9"/>
          <p:cNvSpPr/>
          <p:nvPr/>
        </p:nvSpPr>
        <p:spPr>
          <a:xfrm>
            <a:off x="1712213" y="4105656"/>
            <a:ext cx="146304" cy="274320"/>
          </a:xfrm>
          <a:prstGeom prst="chevron">
            <a:avLst/>
          </a:prstGeom>
          <a:solidFill>
            <a:srgbClr val="BFBFBF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4617720"/>
            <a:ext cx="1392174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950" b="0">
                <a:solidFill>
                  <a:srgbClr val="404040"/>
                </a:solidFill>
              </a:rPr>
              <a:t>계정 인증</a:t>
            </a:r>
          </a:p>
          <a:p>
            <a:pPr algn="ctr"/>
            <a:r>
              <a:rPr sz="950" b="0">
                <a:solidFill>
                  <a:srgbClr val="404040"/>
                </a:solidFill>
              </a:rPr>
              <a:t>세션 생성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85950" y="3913632"/>
            <a:ext cx="1300734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2</a:t>
            </a:r>
          </a:p>
          <a:p>
            <a:pPr algn="ctr"/>
            <a:r>
              <a:rPr sz="1250" b="1">
                <a:solidFill>
                  <a:srgbClr val="FFFFFF"/>
                </a:solidFill>
              </a:rPr>
              <a:t>변경일 확인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SessionInfo</a:t>
            </a:r>
          </a:p>
        </p:txBody>
      </p:sp>
      <p:sp>
        <p:nvSpPr>
          <p:cNvPr id="13" name="Chevron 12"/>
          <p:cNvSpPr/>
          <p:nvPr/>
        </p:nvSpPr>
        <p:spPr>
          <a:xfrm>
            <a:off x="3214115" y="4105656"/>
            <a:ext cx="146304" cy="274320"/>
          </a:xfrm>
          <a:prstGeom prst="chevron">
            <a:avLst/>
          </a:prstGeom>
          <a:solidFill>
            <a:srgbClr val="BFBFBF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40230" y="4617720"/>
            <a:ext cx="1392174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950" b="0">
                <a:solidFill>
                  <a:srgbClr val="404040"/>
                </a:solidFill>
              </a:rPr>
              <a:t>마지막 변경 일시</a:t>
            </a:r>
          </a:p>
          <a:p>
            <a:pPr algn="ctr"/>
            <a:r>
              <a:rPr sz="950" b="0">
                <a:solidFill>
                  <a:srgbClr val="404040"/>
                </a:solidFill>
              </a:rPr>
              <a:t>세션에 포함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7851" y="3913632"/>
            <a:ext cx="1300734" cy="65836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3</a:t>
            </a:r>
          </a:p>
          <a:p>
            <a:pPr algn="ctr"/>
            <a:r>
              <a:rPr sz="1250" b="1">
                <a:solidFill>
                  <a:srgbClr val="FFFFFF"/>
                </a:solidFill>
              </a:rPr>
              <a:t>만료 판단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UserService</a:t>
            </a:r>
          </a:p>
        </p:txBody>
      </p:sp>
      <p:sp>
        <p:nvSpPr>
          <p:cNvPr id="16" name="Chevron 15"/>
          <p:cNvSpPr/>
          <p:nvPr/>
        </p:nvSpPr>
        <p:spPr>
          <a:xfrm>
            <a:off x="4716018" y="4105656"/>
            <a:ext cx="146304" cy="274320"/>
          </a:xfrm>
          <a:prstGeom prst="chevron">
            <a:avLst/>
          </a:prstGeom>
          <a:solidFill>
            <a:srgbClr val="BFBFBF"/>
          </a:solidFill>
          <a:ln>
            <a:noFill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2132" y="4617720"/>
            <a:ext cx="1392174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950" b="0">
                <a:solidFill>
                  <a:srgbClr val="404040"/>
                </a:solidFill>
              </a:rPr>
              <a:t>정책 기간 초과 시</a:t>
            </a:r>
          </a:p>
          <a:p>
            <a:pPr algn="ctr"/>
            <a:r>
              <a:rPr sz="950" b="0">
                <a:solidFill>
                  <a:srgbClr val="404040"/>
                </a:solidFill>
              </a:rPr>
              <a:t>변경 대상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89753" y="3913632"/>
            <a:ext cx="1300734" cy="65836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lIns="27432" rIns="27432" tIns="27432" bIns="27432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4</a:t>
            </a:r>
          </a:p>
          <a:p>
            <a:pPr algn="ctr"/>
            <a:r>
              <a:rPr sz="1250" b="1">
                <a:solidFill>
                  <a:srgbClr val="FFFFFF"/>
                </a:solidFill>
              </a:rPr>
              <a:t>변경·검증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에러코드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4033" y="4617720"/>
            <a:ext cx="1392174" cy="38404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950" b="0">
                <a:solidFill>
                  <a:srgbClr val="404040"/>
                </a:solidFill>
              </a:rPr>
              <a:t>실패 사유별</a:t>
            </a:r>
          </a:p>
          <a:p>
            <a:pPr algn="ctr"/>
            <a:r>
              <a:rPr sz="950" b="0">
                <a:solidFill>
                  <a:srgbClr val="404040"/>
                </a:solidFill>
              </a:rPr>
              <a:t>에러코드 응답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5120640"/>
            <a:ext cx="58064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실시간 통신·알림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5413248"/>
            <a:ext cx="571500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 marL="128016" indent="-128016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</a:rPr>
              <a:t>- </a:t>
            </a:r>
            <a:r>
              <a:rPr sz="1050" b="1">
                <a:solidFill>
                  <a:srgbClr val="262626"/>
                </a:solidFill>
              </a:rPr>
              <a:t>AWS API Gateway(WebSocket)</a:t>
            </a:r>
            <a:r>
              <a:rPr sz="1050" b="0">
                <a:solidFill>
                  <a:srgbClr val="262626"/>
                </a:solidFill>
              </a:rPr>
              <a:t> 연동 Controller 구현 + 연결 테스트 (6월)</a:t>
            </a:r>
          </a:p>
          <a:p>
            <a:pPr algn="l" marL="128016" indent="-128016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</a:rPr>
              <a:t>- FCM 기반 </a:t>
            </a:r>
            <a:r>
              <a:rPr sz="1050" b="1">
                <a:solidFill>
                  <a:srgbClr val="262626"/>
                </a:solidFill>
              </a:rPr>
              <a:t>웹 푸시 알림</a:t>
            </a:r>
            <a:r>
              <a:rPr sz="1050" b="0">
                <a:solidFill>
                  <a:srgbClr val="262626"/>
                </a:solidFill>
              </a:rPr>
              <a:t> 지원 및 엔드포인트 매핑 정비 (5월)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097280"/>
            <a:ext cx="5440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300" b="1">
                <a:solidFill>
                  <a:srgbClr val="000000"/>
                </a:solidFill>
              </a:rPr>
              <a:t>【 실시간 통신·알림 구조 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508760"/>
            <a:ext cx="3566160" cy="1325880"/>
          </a:xfrm>
          <a:prstGeom prst="rect">
            <a:avLst/>
          </a:prstGeom>
          <a:noFill/>
          <a:ln w="12700">
            <a:solidFill>
              <a:srgbClr val="808080"/>
            </a:solidFill>
            <a:prstDash val="dash"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527048"/>
            <a:ext cx="3200400" cy="228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1">
                <a:solidFill>
                  <a:srgbClr val="808080"/>
                </a:solidFill>
              </a:rPr>
              <a:t>AWS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990088"/>
            <a:ext cx="1463040" cy="228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850" b="1">
                <a:solidFill>
                  <a:srgbClr val="808080"/>
                </a:solidFill>
              </a:rPr>
              <a:t>Firebase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2971800"/>
            <a:ext cx="1737360" cy="1188720"/>
          </a:xfrm>
          <a:prstGeom prst="rect">
            <a:avLst/>
          </a:prstGeom>
          <a:noFill/>
          <a:ln w="12700">
            <a:solidFill>
              <a:srgbClr val="808080"/>
            </a:solidFill>
            <a:prstDash val="dash"/>
          </a:ln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1874519"/>
            <a:ext cx="1463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262626"/>
                </a:solidFill>
              </a:rPr>
              <a:t>클라이언트</a:t>
            </a:r>
          </a:p>
          <a:p>
            <a:pPr algn="ctr"/>
            <a:r>
              <a:rPr sz="850" b="0">
                <a:solidFill>
                  <a:srgbClr val="262626"/>
                </a:solidFill>
              </a:rPr>
              <a:t>웹 · 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1874519"/>
            <a:ext cx="1371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262626"/>
                </a:solidFill>
              </a:rPr>
              <a:t>API Gateway</a:t>
            </a:r>
          </a:p>
          <a:p>
            <a:pPr algn="ctr"/>
            <a:r>
              <a:rPr sz="850" b="0">
                <a:solidFill>
                  <a:srgbClr val="262626"/>
                </a:solidFill>
              </a:rPr>
              <a:t>WebSocket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41280" y="1874519"/>
            <a:ext cx="1371600" cy="731520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백엔드 API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WebSocket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GatewayController</a:t>
            </a:r>
          </a:p>
        </p:txBody>
      </p:sp>
      <p:sp>
        <p:nvSpPr>
          <p:cNvPr id="30" name="Oval 29"/>
          <p:cNvSpPr/>
          <p:nvPr/>
        </p:nvSpPr>
        <p:spPr>
          <a:xfrm>
            <a:off x="11475720" y="1764792"/>
            <a:ext cx="237744" cy="237744"/>
          </a:xfrm>
          <a:prstGeom prst="ellipse">
            <a:avLst/>
          </a:prstGeom>
          <a:solidFill>
            <a:srgbClr val="C00000"/>
          </a:solidFill>
          <a:ln w="15875">
            <a:solidFill>
              <a:srgbClr val="FFFFFF"/>
            </a:solidFill>
          </a:ln>
        </p:spPr>
        <p:txBody>
          <a:bodyPr rtlCol="0" anchor="ctr" lIns="0" rIns="0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18120" y="2240280"/>
            <a:ext cx="685800" cy="0"/>
          </a:xfrm>
          <a:prstGeom prst="line">
            <a:avLst/>
          </a:prstGeom>
          <a:ln w="19050">
            <a:solidFill>
              <a:srgbClr val="404040"/>
            </a:solidFill>
            <a:headEnd type="triangle"/>
            <a:tailEnd type="triangle"/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2240280"/>
            <a:ext cx="365760" cy="0"/>
          </a:xfrm>
          <a:prstGeom prst="line">
            <a:avLst/>
          </a:prstGeom>
          <a:ln w="19050">
            <a:solidFill>
              <a:srgbClr val="404040"/>
            </a:solidFill>
            <a:headEnd type="triangle"/>
            <a:tailEnd type="triangle"/>
          </a:ln>
        </p:spPr>
      </p:cxnSp>
      <p:sp>
        <p:nvSpPr>
          <p:cNvPr id="33" name="Rectangle 32"/>
          <p:cNvSpPr/>
          <p:nvPr/>
        </p:nvSpPr>
        <p:spPr>
          <a:xfrm>
            <a:off x="10241280" y="3246120"/>
            <a:ext cx="1371600" cy="731520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백엔드 API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FCMSendService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3246120"/>
            <a:ext cx="1371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262626"/>
                </a:solidFill>
              </a:rPr>
              <a:t>FCM</a:t>
            </a:r>
          </a:p>
          <a:p>
            <a:pPr algn="ctr"/>
            <a:r>
              <a:rPr sz="850" b="0">
                <a:solidFill>
                  <a:srgbClr val="262626"/>
                </a:solidFill>
              </a:rPr>
              <a:t>Cloud Messaging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3246120"/>
            <a:ext cx="1463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262626"/>
                </a:solidFill>
              </a:rPr>
              <a:t>웹 브라우저</a:t>
            </a:r>
          </a:p>
          <a:p>
            <a:pPr algn="ctr"/>
            <a:r>
              <a:rPr sz="850" b="0">
                <a:solidFill>
                  <a:srgbClr val="262626"/>
                </a:solidFill>
              </a:rPr>
              <a:t>Web Push 수신</a:t>
            </a:r>
          </a:p>
        </p:txBody>
      </p:sp>
      <p:sp>
        <p:nvSpPr>
          <p:cNvPr id="36" name="Oval 35"/>
          <p:cNvSpPr/>
          <p:nvPr/>
        </p:nvSpPr>
        <p:spPr>
          <a:xfrm>
            <a:off x="11475720" y="3136392"/>
            <a:ext cx="237744" cy="237744"/>
          </a:xfrm>
          <a:prstGeom prst="ellipse">
            <a:avLst/>
          </a:prstGeom>
          <a:solidFill>
            <a:srgbClr val="C00000"/>
          </a:solidFill>
          <a:ln w="15875">
            <a:solidFill>
              <a:srgbClr val="FFFFFF"/>
            </a:solidFill>
          </a:ln>
        </p:spPr>
        <p:txBody>
          <a:bodyPr rtlCol="0" anchor="ctr" lIns="0" rIns="0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9875520" y="3611880"/>
            <a:ext cx="365760" cy="0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</p:cxnSp>
      <p:cxnSp>
        <p:nvCxnSpPr>
          <p:cNvPr id="38" name="Connector 37"/>
          <p:cNvCxnSpPr/>
          <p:nvPr/>
        </p:nvCxnSpPr>
        <p:spPr>
          <a:xfrm flipH="1">
            <a:off x="7818120" y="3611880"/>
            <a:ext cx="685800" cy="0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</p:cxnSp>
      <p:sp>
        <p:nvSpPr>
          <p:cNvPr id="39" name="TextBox 38"/>
          <p:cNvSpPr txBox="1"/>
          <p:nvPr/>
        </p:nvSpPr>
        <p:spPr>
          <a:xfrm>
            <a:off x="6355080" y="4297680"/>
            <a:ext cx="539496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950" b="1">
                <a:solidFill>
                  <a:srgbClr val="C00000"/>
                </a:solidFill>
              </a:rPr>
              <a:t>①</a:t>
            </a:r>
            <a:r>
              <a:rPr sz="950" b="0">
                <a:solidFill>
                  <a:srgbClr val="262626"/>
                </a:solidFill>
              </a:rPr>
              <a:t> 연결 유지형 실시간 메시지 채널</a:t>
            </a:r>
          </a:p>
          <a:p>
            <a:pPr algn="l"/>
            <a:r>
              <a:rPr sz="950" b="1">
                <a:solidFill>
                  <a:srgbClr val="C00000"/>
                </a:solidFill>
              </a:rPr>
              <a:t>②</a:t>
            </a:r>
            <a:r>
              <a:rPr sz="950" b="0">
                <a:solidFill>
                  <a:srgbClr val="262626"/>
                </a:solidFill>
              </a:rPr>
              <a:t> 앱 외 웹 환경까지 알림 채널 확대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983480"/>
            <a:ext cx="544068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300" b="1">
                <a:solidFill>
                  <a:srgbClr val="000000"/>
                </a:solidFill>
              </a:rPr>
              <a:t>【 기대 효과 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5349240"/>
            <a:ext cx="1722120" cy="868680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000" b="0">
                <a:solidFill>
                  <a:srgbClr val="404040"/>
                </a:solidFill>
              </a:rPr>
              <a:t>계정 보안</a:t>
            </a:r>
          </a:p>
          <a:p>
            <a:pPr algn="ctr"/>
            <a:r>
              <a:rPr sz="1250" b="1">
                <a:solidFill>
                  <a:srgbClr val="2D2D8A"/>
                </a:solidFill>
              </a:rPr>
              <a:t>주기적 변경 유도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14360" y="5349240"/>
            <a:ext cx="172212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000" b="0">
                <a:solidFill>
                  <a:srgbClr val="404040"/>
                </a:solidFill>
              </a:rPr>
              <a:t>오류 안내</a:t>
            </a:r>
          </a:p>
          <a:p>
            <a:pPr algn="ctr"/>
            <a:r>
              <a:rPr sz="1250" b="1">
                <a:solidFill>
                  <a:srgbClr val="2D2D8A"/>
                </a:solidFill>
              </a:rPr>
              <a:t>사유별 응답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73640" y="5349240"/>
            <a:ext cx="172212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lIns="54864" rIns="54864" tIns="27432" bIns="27432" wrap="square"/>
          <a:lstStyle/>
          <a:p>
            <a:pPr algn="ctr"/>
            <a:r>
              <a:rPr sz="1000" b="0">
                <a:solidFill>
                  <a:srgbClr val="404040"/>
                </a:solidFill>
              </a:rPr>
              <a:t>실시간성</a:t>
            </a:r>
          </a:p>
          <a:p>
            <a:pPr algn="ctr"/>
            <a:r>
              <a:rPr sz="1250" b="1">
                <a:solidFill>
                  <a:srgbClr val="2D2D8A"/>
                </a:solidFill>
              </a:rPr>
              <a:t>양방향 채널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786384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2200" b="1">
                <a:solidFill>
                  <a:srgbClr val="000000"/>
                </a:solidFill>
              </a:rPr>
              <a:t>6. 역량 자기평가 및 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28016"/>
            <a:ext cx="434340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/>
            <a:r>
              <a:rPr sz="1500" b="1">
                <a:solidFill>
                  <a:srgbClr val="7F7F7F"/>
                </a:solidFill>
              </a:rPr>
              <a:t>Self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21792"/>
            <a:ext cx="1143000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450" b="1">
                <a:solidFill>
                  <a:srgbClr val="000000"/>
                </a:solidFill>
              </a:rPr>
              <a:t>기능 구현을 넘어 연동 구조 설계·품질·운영 안정성까지 책임지는 백엔드 개발자로 성장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097280"/>
            <a:ext cx="69037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역량별 자기평가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1417320"/>
          <a:ext cx="6903720" cy="34015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34440"/>
                <a:gridCol w="2971800"/>
                <a:gridCol w="269748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역량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근거 실적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자기 평가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59595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업무 전문성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DCE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OASYS B015 수신·적재·계약 동기화 E2E 설계·구현, 비동기 처리 적용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EE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외부 시스템 연동을 </a:t>
                      </a:r>
                      <a:r>
                        <a:rPr sz="1000" b="1">
                          <a:solidFill>
                            <a:srgbClr val="262626"/>
                          </a:solidFill>
                        </a:rPr>
                        <a:t>설계부터 운영까지 단독 수행</a:t>
                      </a:r>
                      <a:r>
                        <a:rPr sz="1000" b="0">
                          <a:solidFill>
                            <a:srgbClr val="262626"/>
                          </a:solidFill>
                        </a:rPr>
                        <a:t>할 수 있는 역량 확보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EEF0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문제 해결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엑셀 다운로드 스트리밍 전환, VIP 에러 처리 시 외부 호출 최소화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성능·자원 문제를 </a:t>
                      </a:r>
                      <a:r>
                        <a:rPr sz="1000" b="1">
                          <a:solidFill>
                            <a:srgbClr val="262626"/>
                          </a:solidFill>
                        </a:rPr>
                        <a:t>구조 변경으로 근본 해결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품질 관리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단위 테스트 10종 작성, 규칙 변경 시 테스트 동반 수정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테스트 기반 개발 습관 정착, 리팩터링 안정성 확보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운영 대응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hotfix 신속 대응, main 선반영분 즉시 원복, 환경별 설정 분리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장애 확산 전 </a:t>
                      </a:r>
                      <a:r>
                        <a:rPr sz="1000" b="1">
                          <a:solidFill>
                            <a:srgbClr val="262626"/>
                          </a:solidFill>
                        </a:rPr>
                        <a:t>신속 복구</a:t>
                      </a:r>
                      <a:r>
                        <a:rPr sz="1000" b="0">
                          <a:solidFill>
                            <a:srgbClr val="262626"/>
                          </a:solidFill>
                        </a:rPr>
                        <a:t> — 배포 전 검증 절차는 보완 필요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</a:rPr>
                        <a:t>협업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dev / stg / main 브랜치 기반 협업, MR 단위 기능 통합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</a:rPr>
                        <a:t>브랜치 간 반영 이력 관리 체계화 필요</a:t>
                      </a:r>
                    </a:p>
                  </a:txBody>
                  <a:tcPr marL="54864" marR="54864" marT="22860" marB="22860" anchor="ctr">
                    <a:lnL w="9525" cmpd="sng">
                      <a:solidFill>
                        <a:srgbClr val="A6A6A6"/>
                      </a:solidFill>
                    </a:lnL>
                    <a:lnR w="9525" cmpd="sng">
                      <a:solidFill>
                        <a:srgbClr val="A6A6A6"/>
                      </a:solidFill>
                    </a:lnR>
                    <a:lnT w="9525" cmpd="sng">
                      <a:solidFill>
                        <a:srgbClr val="A6A6A6"/>
                      </a:solidFill>
                    </a:lnT>
                    <a:lnB w="9525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5029200"/>
            <a:ext cx="690372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1">
                <a:solidFill>
                  <a:srgbClr val="000000"/>
                </a:solidFill>
              </a:rPr>
              <a:t>□ 강점 / 보완점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5349240"/>
            <a:ext cx="3383280" cy="1051560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txBody>
          <a:bodyPr rtlCol="0" anchor="t" lIns="109728" rIns="109728" tIns="27432" bIns="27432" wrap="square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D2D8A"/>
                </a:solidFill>
              </a:rPr>
              <a:t>강점</a:t>
            </a:r>
          </a:p>
          <a:p>
            <a:pPr algn="l"/>
            <a:r>
              <a:rPr sz="1000" b="0">
                <a:solidFill>
                  <a:srgbClr val="262626"/>
                </a:solidFill>
              </a:rPr>
              <a:t>- 외부 연동·데이터 처리 등 난도 높은 과제 완수</a:t>
            </a:r>
          </a:p>
          <a:p>
            <a:pPr algn="l"/>
            <a:r>
              <a:rPr sz="1000" b="0">
                <a:solidFill>
                  <a:srgbClr val="262626"/>
                </a:solidFill>
              </a:rPr>
              <a:t>- 기능과 테스트를 함께 작성하는 개발 방식</a:t>
            </a:r>
          </a:p>
          <a:p>
            <a:pPr algn="l"/>
            <a:r>
              <a:rPr sz="1000" b="0">
                <a:solidFill>
                  <a:srgbClr val="262626"/>
                </a:solidFill>
              </a:rPr>
              <a:t>- 운영 이슈 발생 시 빠른 원인 분석·복구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4488" y="5349240"/>
            <a:ext cx="3383280" cy="1051560"/>
          </a:xfrm>
          <a:prstGeom prst="rect">
            <a:avLst/>
          </a:prstGeom>
          <a:solidFill>
            <a:srgbClr val="FBEAEA"/>
          </a:solidFill>
          <a:ln>
            <a:noFill/>
          </a:ln>
        </p:spPr>
        <p:txBody>
          <a:bodyPr rtlCol="0" anchor="t" lIns="109728" rIns="109728" tIns="27432" bIns="27432" wrap="square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</a:rPr>
              <a:t>보완점</a:t>
            </a:r>
          </a:p>
          <a:p>
            <a:pPr algn="l"/>
            <a:r>
              <a:rPr sz="1000" b="0">
                <a:solidFill>
                  <a:srgbClr val="262626"/>
                </a:solidFill>
              </a:rPr>
              <a:t>- 운영 브랜치 반영 전 검증 절차 강화</a:t>
            </a:r>
          </a:p>
          <a:p>
            <a:pPr algn="l"/>
            <a:r>
              <a:rPr sz="1000" b="0">
                <a:solidFill>
                  <a:srgbClr val="262626"/>
                </a:solidFill>
              </a:rPr>
              <a:t>- 개선 효과의 정량 측정·공유</a:t>
            </a:r>
          </a:p>
          <a:p>
            <a:pPr algn="l"/>
            <a:r>
              <a:rPr sz="1000" b="0">
                <a:solidFill>
                  <a:srgbClr val="262626"/>
                </a:solidFill>
              </a:rPr>
              <a:t>- 브랜치 간 반영 이력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097280"/>
            <a:ext cx="4224528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/>
            <a:r>
              <a:rPr sz="1300" b="1">
                <a:solidFill>
                  <a:srgbClr val="000000"/>
                </a:solidFill>
              </a:rPr>
              <a:t>【 향후 계획 (’26.4Q ~ ’27) 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508760"/>
            <a:ext cx="384048" cy="38404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lIns="0" rIns="0" tIns="27432" bIns="27432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490472"/>
            <a:ext cx="3721608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50" b="1">
                <a:solidFill>
                  <a:srgbClr val="262626"/>
                </a:solidFill>
              </a:rPr>
              <a:t>OASYS 연동 고도화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810512"/>
            <a:ext cx="3721608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>
                <a:solidFill>
                  <a:srgbClr val="404040"/>
                </a:solidFill>
              </a:rPr>
              <a:t>실패 건 재처리·모니터링 체계 마련, 예외 규칙 확대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89520" y="2560320"/>
            <a:ext cx="4224528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6" name="Rectangle 15"/>
          <p:cNvSpPr/>
          <p:nvPr/>
        </p:nvSpPr>
        <p:spPr>
          <a:xfrm>
            <a:off x="7589520" y="2724912"/>
            <a:ext cx="384048" cy="38404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lIns="0" rIns="0" tIns="27432" bIns="27432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706624"/>
            <a:ext cx="3721608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50" b="1">
                <a:solidFill>
                  <a:srgbClr val="262626"/>
                </a:solidFill>
              </a:rPr>
              <a:t>배포 프로세스 개선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026664"/>
            <a:ext cx="3721608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>
                <a:solidFill>
                  <a:srgbClr val="404040"/>
                </a:solidFill>
              </a:rPr>
              <a:t>hotfix → main 반영 전 리뷰·stg 검증 절차 정례화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89520" y="3776472"/>
            <a:ext cx="4224528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20" name="Rectangle 19"/>
          <p:cNvSpPr/>
          <p:nvPr/>
        </p:nvSpPr>
        <p:spPr>
          <a:xfrm>
            <a:off x="7589520" y="3941064"/>
            <a:ext cx="384048" cy="38404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lIns="0" rIns="0" tIns="27432" bIns="27432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922776"/>
            <a:ext cx="3721608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50" b="1">
                <a:solidFill>
                  <a:srgbClr val="262626"/>
                </a:solidFill>
              </a:rPr>
              <a:t>테스트 범위 확대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242816"/>
            <a:ext cx="3721608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>
                <a:solidFill>
                  <a:srgbClr val="404040"/>
                </a:solidFill>
              </a:rPr>
              <a:t>통계·이력 쿼리(Mapper) 테스트 추가, 커버리지 관리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89520" y="4992624"/>
            <a:ext cx="4224528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24" name="Rectangle 23"/>
          <p:cNvSpPr/>
          <p:nvPr/>
        </p:nvSpPr>
        <p:spPr>
          <a:xfrm>
            <a:off x="7589520" y="5157216"/>
            <a:ext cx="384048" cy="38404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lIns="0" rIns="0" tIns="27432" bIns="27432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5138928"/>
            <a:ext cx="3721608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50" b="1">
                <a:solidFill>
                  <a:srgbClr val="262626"/>
                </a:solidFill>
              </a:rPr>
              <a:t>성과 지표화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5458968"/>
            <a:ext cx="3721608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050" b="0">
                <a:solidFill>
                  <a:srgbClr val="404040"/>
                </a:solidFill>
              </a:rPr>
              <a:t>엑셀 다운로드 등 개선 효과를 수치로 측정해 공유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테마1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9525">
          <a:solidFill>
            <a:schemeClr val="bg1">
              <a:lumMod val="50000"/>
            </a:schemeClr>
          </a:solidFill>
        </a:ln>
      </a:spPr>
      <a:bodyPr tIns="90000" bIns="90000" rtlCol="0" anchor="t"/>
      <a:lstStyle>
        <a:defPPr latinLnBrk="0">
          <a:defRPr sz="900" smtClean="0">
            <a:solidFill>
              <a:schemeClr val="tx1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8D91EC4E-EAA5-40D9-A438-A2D3309CEB02}" vid="{FAA6B756-1330-4286-B914-6C4B5365610B}"/>
    </a:ext>
  </a:extLst>
</a:theme>
</file>

<file path=ppt/theme/theme2.xml><?xml version="1.0" encoding="utf-8"?>
<a:theme xmlns:a="http://schemas.openxmlformats.org/drawingml/2006/main" name="16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0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4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7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1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2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3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5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8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사용자 지정 2">
      <a:majorFont>
        <a:latin typeface="Tahoma"/>
        <a:ea typeface="웰니스산스"/>
        <a:cs typeface=""/>
      </a:majorFont>
      <a:minorFont>
        <a:latin typeface="웰니스산스"/>
        <a:ea typeface="웰니스산스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9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매직기본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bg1">
              <a:lumMod val="50000"/>
            </a:schemeClr>
          </a:solidFill>
        </a:ln>
      </a:spPr>
      <a:bodyPr rtlCol="0" anchor="ctr"/>
      <a:lstStyle>
        <a:defPPr algn="ctr" latinLnBrk="0">
          <a:defRPr sz="1200" dirty="0" smtClean="0">
            <a:solidFill>
              <a:srgbClr val="000000"/>
            </a:solidFill>
            <a:latin typeface="Trebuchet MS" panose="020B0603020202020204" pitchFamily="34" charset="0"/>
            <a:ea typeface="맑은 고딕" pitchFamily="50" charset="-127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46E0C04-E99C-AB4E-BF60-1E3E2F781DDB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aacac087-0b6f-4a6d-bdc5-5262c092b46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67</TotalTime>
  <Words>1319</Words>
  <Application>Microsoft Macintosh PowerPoint</Application>
  <PresentationFormat>와이드스크린</PresentationFormat>
  <Paragraphs>226</Paragraphs>
  <Slides>8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12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29" baseType="lpstr">
      <vt:lpstr>HY견고딕</vt:lpstr>
      <vt:lpstr>Tahoma</vt:lpstr>
      <vt:lpstr>굴림</vt:lpstr>
      <vt:lpstr>Trebuchet MS</vt:lpstr>
      <vt:lpstr>맑은 고딕</vt:lpstr>
      <vt:lpstr>Arial</vt:lpstr>
      <vt:lpstr>Wingdings</vt:lpstr>
      <vt:lpstr>테마1</vt:lpstr>
      <vt:lpstr>16_기본 디자인</vt:lpstr>
      <vt:lpstr>10_기본 디자인</vt:lpstr>
      <vt:lpstr>디자인 사용자 지정</vt:lpstr>
      <vt:lpstr>14_기본 디자인</vt:lpstr>
      <vt:lpstr>17_기본 디자인</vt:lpstr>
      <vt:lpstr>11_기본 디자인</vt:lpstr>
      <vt:lpstr>12_기본 디자인</vt:lpstr>
      <vt:lpstr>13_기본 디자인</vt:lpstr>
      <vt:lpstr>15_기본 디자인</vt:lpstr>
      <vt:lpstr>18_기본 디자인</vt:lpstr>
      <vt:lpstr>19_기본 디자인</vt:lpstr>
      <vt:lpstr>Image</vt:lpstr>
      <vt:lpstr>think-cell 슬라이드</vt:lpstr>
      <vt:lpstr>쉽지않다 제목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영호 허</dc:creator>
  <cp:lastModifiedBy>영호 허</cp:lastModifiedBy>
  <cp:revision>3</cp:revision>
  <dcterms:created xsi:type="dcterms:W3CDTF">2026-06-22T05:49:07Z</dcterms:created>
  <dcterms:modified xsi:type="dcterms:W3CDTF">2026-06-22T07:32:12Z</dcterms:modified>
</cp:coreProperties>
</file>