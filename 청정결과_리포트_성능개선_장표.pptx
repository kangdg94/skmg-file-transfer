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  <p:sldMasterId id="2147483664" r:id="rId2"/>
    <p:sldMasterId id="2147483666" r:id="rId3"/>
    <p:sldMasterId id="2147483668" r:id="rId4"/>
    <p:sldMasterId id="2147483682" r:id="rId5"/>
    <p:sldMasterId id="2147483686" r:id="rId6"/>
    <p:sldMasterId id="2147483689" r:id="rId7"/>
    <p:sldMasterId id="2147483694" r:id="rId8"/>
    <p:sldMasterId id="2147483696" r:id="rId9"/>
    <p:sldMasterId id="2147483699" r:id="rId10"/>
    <p:sldMasterId id="2147483701" r:id="rId11"/>
    <p:sldMasterId id="2147483704" r:id="rId12"/>
  </p:sldMasterIdLst>
  <p:sldIdLst>
    <p:sldId id="256" r:id="rId20"/>
  </p:sldIdLst>
  <p:sldSz cx="12192000" cy="6858000"/>
  <p:notesSz cx="6858000" cy="9144000"/>
  <p:embeddedFontLst>
    <p:embeddedFont>
      <p:font typeface="굴림" panose="020B0600000101010101" pitchFamily="34" charset="-127"/>
      <p:regular r:id="rId21"/>
    </p:embeddedFont>
    <p:embeddedFont>
      <p:font typeface="맑은 고딕" panose="020B0503020000020004" pitchFamily="34" charset="-127"/>
      <p:regular r:id="rId22"/>
      <p:bold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Trebuchet MS" panose="020B0703020202090204" pitchFamily="34" charset="0"/>
      <p:regular r:id="rId26"/>
      <p:bold r:id="rId27"/>
      <p:italic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04"/>
    <p:restoredTop sz="94658"/>
  </p:normalViewPr>
  <p:slideViewPr>
    <p:cSldViewPr snapToGrid="0">
      <p:cViewPr varScale="1">
        <p:scale>
          <a:sx n="93" d="100"/>
          <a:sy n="93" d="100"/>
        </p:scale>
        <p:origin x="22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20" Type="http://schemas.openxmlformats.org/officeDocument/2006/relationships/slide" Target="slides/slide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5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5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5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3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3" Type="http://schemas.openxmlformats.org/officeDocument/2006/relationships/image" Target="../media/image1.png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png"/><Relationship Id="rId2" Type="http://schemas.openxmlformats.org/officeDocument/2006/relationships/oleObject" Target="../embeddings/oleObject7.bin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153738"/>
              </p:ext>
            </p:extLst>
          </p:nvPr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701587" imgH="6679365" progId="">
                  <p:embed/>
                </p:oleObj>
              </mc:Choice>
              <mc:Fallback>
                <p:oleObj name="Image" r:id="rId2" imgW="5701587" imgH="6679365" progId="">
                  <p:embed/>
                  <p:pic>
                    <p:nvPicPr>
                      <p:cNvPr id="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971050"/>
              </p:ext>
            </p:extLst>
          </p:nvPr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650794" imgH="4749206" progId="">
                  <p:embed/>
                </p:oleObj>
              </mc:Choice>
              <mc:Fallback>
                <p:oleObj name="Image" r:id="rId4" imgW="5650794" imgH="4749206" progId="">
                  <p:embed/>
                  <p:pic>
                    <p:nvPicPr>
                      <p:cNvPr id="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2"/>
          <p:cNvSpPr>
            <a:spLocks noChangeShapeType="1"/>
          </p:cNvSpPr>
          <p:nvPr/>
        </p:nvSpPr>
        <p:spPr bwMode="auto">
          <a:xfrm>
            <a:off x="302144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549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32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CED35-8F4E-66FA-99E8-781F8E230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0C4843-6D02-0247-4DFF-F431EE22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D2D0D-DF1D-B38E-D340-BF019B81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4DA7-71AC-9645-9DBA-B602BE83BCA4}" type="datetimeFigureOut">
              <a:rPr kumimoji="1" lang="ko-KR" altLang="en-US" smtClean="0"/>
              <a:t>2026. 6. 22.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4E364-D706-3ED1-EEBD-7BBDA8CF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364E2-06B6-9F43-9C97-CCA5415C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DC27-F0E4-4646-8443-3C7EDA1162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082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25579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CED35-8F4E-66FA-99E8-781F8E230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0C4843-6D02-0247-4DFF-F431EE22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D2D0D-DF1D-B38E-D340-BF019B81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4DA7-71AC-9645-9DBA-B602BE83BCA4}" type="datetimeFigureOut">
              <a:rPr kumimoji="1" lang="ko-KR" altLang="en-US" smtClean="0"/>
              <a:t>2026. 6. 22.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4E364-D706-3ED1-EEBD-7BBDA8CF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364E2-06B6-9F43-9C97-CCA5415C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DC27-F0E4-4646-8443-3C7EDA1162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935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75092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883F4-062E-4DC2-838B-C6392D451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82F6F4-4E9C-4115-880D-71A4C4FA0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24C9D-6955-4BFF-B925-74E1CB45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1F981E-A06F-481D-B5A5-9841A9F4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AE3CC-359D-4C60-8C0B-A94FEECB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22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8AA01-4475-47D8-8696-D5756AEC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5F7CF-56CC-4A8F-B5B3-F82234C13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185193-704F-4E51-BC85-09A129DF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3BEE9-998F-4896-BBB3-604430EF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F6E72-BB17-4A69-A6F9-EBF3011A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6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C117D-44A0-44ED-A4CC-48A0DB99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3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1DCC8F-B626-4050-85D2-569B81407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39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32EC3A-75C9-4AC2-AE2B-20F982BB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DE3D5-5957-499F-8B39-A7836B9A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D1F12-50B3-43DD-A973-C61522BA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18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9C47E-293B-42C4-9627-BF9130D7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4CB6C1-979B-41E0-A41F-570EAD981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64015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90596C-EF17-4804-AD4E-E2CD60542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785" y="1825625"/>
            <a:ext cx="5164016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52D47-6DE3-4FE8-BFD0-38F4B2C3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01EA3-F6A6-4580-A192-DFFFEADE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69FF03-240C-4E04-9481-6E1CE1EC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29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64B6E-52F0-4291-8E39-AA309D5E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54" y="365126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0106CC-CFE4-4924-8B5F-2926D0A0B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154" y="1681163"/>
            <a:ext cx="51581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E91807-65D1-40F9-A4B5-F46623939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154" y="2505075"/>
            <a:ext cx="5158154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3481B5-FA37-40BA-8A32-9F0C4FBE2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55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04CB35-162F-4B6D-99CF-EF2A844C4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553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E415F3-6F74-4E38-9D4C-F5CA087F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DFE833-2DD8-4C8B-9BD0-2A3A6678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02B053-DC56-4169-B566-077AA7B0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410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96748-42D3-43BB-977B-FCB4DF64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CFB7ED-9CA8-4921-9D7B-A8352688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C37D94-4771-4C2D-937E-51D4B498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3B1365-B7C9-4DFD-A06C-9D37D813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89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B0D7F0-96B5-4B76-BB49-57800F5C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BBCEB4-E9E6-4121-A6D6-60DFC65FF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CD649-AC13-41A8-9AF6-8F5D86C6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481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7182A-4F0A-4F38-897E-512C8F4B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54" y="457200"/>
            <a:ext cx="39311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93437-0420-4398-AC10-A8AA3FE0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555" y="987426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C44AE2-426E-4FDE-A945-664889166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54" y="2057400"/>
            <a:ext cx="39311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F63EE8-9885-47A5-990C-2214739D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98C90A-6ED8-4334-B0DA-14DC2721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541FD-2466-453D-B1EF-4F1297FA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753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5E985-734F-461A-BF01-E3D6C2F2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54" y="457200"/>
            <a:ext cx="39311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AC94C1-BD17-437E-9B50-4B191513D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555" y="987426"/>
            <a:ext cx="6172199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CB4D8F-5840-433F-9D6A-9C28B2E3E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54" y="2057400"/>
            <a:ext cx="39311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F3ADCD-F06D-4DA2-8E83-029DCDC8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E2CD31-E778-4D34-ABD4-71D305D2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7C667-192B-4A34-BEEE-BC51367A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356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68E05-77DB-44CF-A093-CFDBDCB8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03162A-1B3C-4379-9A7C-575FFFEE4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9A2A1-E74F-47D7-A13D-E9AF8CC9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92E41A-948F-4308-BC55-2A1DFB97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92294-82CE-41CD-B656-24530522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226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B4E92C-5DB6-4011-A7C6-5EA7D0507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5877" y="365125"/>
            <a:ext cx="2627924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57DC43-2687-4192-AE96-E9766B01C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00107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848375-4B6F-45EE-9B25-C646194A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4CC7A-F75E-46C7-8D13-837A855B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F90010-E325-423B-8DC2-6EFE4B34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170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4260504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746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9B1F47-2AAC-0BF2-5B9D-46D6C6E1B2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04" imgH="405" progId="TCLayout.ActiveDocument.1">
                  <p:embed/>
                </p:oleObj>
              </mc:Choice>
              <mc:Fallback>
                <p:oleObj name="think-cell 슬라이드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9B1F47-2AAC-0BF2-5B9D-46D6C6E1B2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Tahoma" panose="020B060403050404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Tahoma" panose="020B0604030504040204" pitchFamily="34" charset="0"/>
              </a:defRPr>
            </a:lvl3pPr>
          </a:lstStyle>
          <a:p>
            <a:pPr lvl="0"/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(12pt)</a:t>
            </a:r>
            <a:endParaRPr lang="ko-KR" altLang="en-US"/>
          </a:p>
          <a:p>
            <a:pPr lvl="1"/>
            <a:r>
              <a:rPr lang="ko-KR" altLang="en-US"/>
              <a:t>수준</a:t>
            </a:r>
            <a:r>
              <a:rPr lang="en-US" altLang="ko-KR"/>
              <a:t>2 (10.5pt / </a:t>
            </a:r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로 복귀는 </a:t>
            </a:r>
            <a:r>
              <a:rPr lang="en-US" altLang="ko-KR"/>
              <a:t>Shift + Tab / </a:t>
            </a:r>
            <a:r>
              <a:rPr lang="ko-KR" altLang="en-US"/>
              <a:t>수준</a:t>
            </a:r>
            <a:r>
              <a:rPr lang="en-US" altLang="ko-KR"/>
              <a:t>3</a:t>
            </a:r>
            <a:r>
              <a:rPr lang="ko-KR" altLang="en-US"/>
              <a:t>은 </a:t>
            </a:r>
            <a:r>
              <a:rPr lang="en-US" altLang="ko-KR"/>
              <a:t>Tab)</a:t>
            </a:r>
            <a:r>
              <a:rPr lang="ko-KR" altLang="en-US"/>
              <a:t> </a:t>
            </a:r>
          </a:p>
          <a:p>
            <a:pPr lvl="2"/>
            <a:r>
              <a:rPr lang="ko-KR" altLang="en-US"/>
              <a:t>수준</a:t>
            </a:r>
            <a:r>
              <a:rPr lang="en-US" altLang="ko-KR"/>
              <a:t>3 (10pt / </a:t>
            </a:r>
            <a:r>
              <a:rPr lang="ko-KR" altLang="en-US"/>
              <a:t>수준</a:t>
            </a:r>
            <a:r>
              <a:rPr lang="en-US" altLang="ko-KR"/>
              <a:t>2</a:t>
            </a:r>
            <a:r>
              <a:rPr lang="ko-KR" altLang="en-US"/>
              <a:t>로 복귀는 </a:t>
            </a:r>
            <a:r>
              <a:rPr lang="en-US" altLang="ko-KR"/>
              <a:t>Shift + Tab)</a:t>
            </a:r>
          </a:p>
          <a:p>
            <a:pPr lvl="0"/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(12pt)</a:t>
            </a:r>
            <a:endParaRPr lang="ko-KR" altLang="en-US"/>
          </a:p>
          <a:p>
            <a:pPr lvl="1"/>
            <a:r>
              <a:rPr lang="ko-KR" altLang="en-US"/>
              <a:t>수준</a:t>
            </a:r>
            <a:r>
              <a:rPr lang="en-US" altLang="ko-KR"/>
              <a:t>2 (10.5pt / </a:t>
            </a:r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로 복귀는 </a:t>
            </a:r>
            <a:r>
              <a:rPr lang="en-US" altLang="ko-KR"/>
              <a:t>Shift + Tab / </a:t>
            </a:r>
            <a:r>
              <a:rPr lang="ko-KR" altLang="en-US"/>
              <a:t>수준</a:t>
            </a:r>
            <a:r>
              <a:rPr lang="en-US" altLang="ko-KR"/>
              <a:t>3</a:t>
            </a:r>
            <a:r>
              <a:rPr lang="ko-KR" altLang="en-US"/>
              <a:t>은 </a:t>
            </a:r>
            <a:r>
              <a:rPr lang="en-US" altLang="ko-KR"/>
              <a:t>Tab)</a:t>
            </a:r>
            <a:r>
              <a:rPr lang="ko-KR" altLang="en-US"/>
              <a:t> </a:t>
            </a:r>
          </a:p>
          <a:p>
            <a:pPr lvl="2"/>
            <a:r>
              <a:rPr lang="ko-KR" altLang="en-US"/>
              <a:t>수준</a:t>
            </a:r>
            <a:r>
              <a:rPr lang="en-US" altLang="ko-KR"/>
              <a:t>3 (10pt / </a:t>
            </a:r>
            <a:r>
              <a:rPr lang="ko-KR" altLang="en-US"/>
              <a:t>수준</a:t>
            </a:r>
            <a:r>
              <a:rPr lang="en-US" altLang="ko-KR"/>
              <a:t>2</a:t>
            </a:r>
            <a:r>
              <a:rPr lang="ko-KR" altLang="en-US"/>
              <a:t>로 복귀는 </a:t>
            </a:r>
            <a:r>
              <a:rPr lang="en-US" altLang="ko-KR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3361401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BADD898-4407-401F-A8D8-41649E783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73" imgH="473" progId="TCLayout.ActiveDocument.1">
                  <p:embed/>
                </p:oleObj>
              </mc:Choice>
              <mc:Fallback>
                <p:oleObj name="think-cell 슬라이드" r:id="rId3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BADD898-4407-401F-A8D8-41649E783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E14BF5F8-DD19-4838-810E-0E05E36020E7}"/>
              </a:ext>
            </a:extLst>
          </p:cNvPr>
          <p:cNvSpPr/>
          <p:nvPr/>
        </p:nvSpPr>
        <p:spPr>
          <a:xfrm>
            <a:off x="0" y="15628"/>
            <a:ext cx="12192000" cy="6842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8507" tIns="58507" rIns="58507" bIns="58507" rtlCol="0" anchor="t"/>
          <a:lstStyle/>
          <a:p>
            <a:pPr algn="l">
              <a:lnSpc>
                <a:spcPct val="90000"/>
              </a:lnSpc>
            </a:pPr>
            <a:endParaRPr lang="ko-KR" altLang="en-US" sz="1138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E4EFB-265F-4479-9DDA-E62306D56945}"/>
              </a:ext>
            </a:extLst>
          </p:cNvPr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8500" tIns="58500" rIns="58500" bIns="58500" rtlCol="0" anchor="t"/>
          <a:lstStyle/>
          <a:p>
            <a:pPr algn="l"/>
            <a:endParaRPr lang="en-GB" sz="894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AF962D-33A0-4B8E-B6A5-AA4595ED3C62}"/>
              </a:ext>
            </a:extLst>
          </p:cNvPr>
          <p:cNvSpPr txBox="1"/>
          <p:nvPr/>
        </p:nvSpPr>
        <p:spPr>
          <a:xfrm>
            <a:off x="11624733" y="6381330"/>
            <a:ext cx="373593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r" latinLnBrk="0">
              <a:lnSpc>
                <a:spcPct val="90000"/>
              </a:lnSpc>
            </a:pPr>
            <a:fld id="{6CE8C368-3382-4C28-AE75-DF7C05ACA19D}" type="slidenum">
              <a:rPr lang="en-US" sz="813" b="0">
                <a:solidFill>
                  <a:schemeClr val="tx1">
                    <a:lumMod val="10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algn="r" latinLnBrk="0">
                <a:lnSpc>
                  <a:spcPct val="90000"/>
                </a:lnSpc>
              </a:pPr>
              <a:t>‹#›</a:t>
            </a:fld>
            <a:endParaRPr lang="en-US" sz="813" b="0">
              <a:solidFill>
                <a:schemeClr val="tx1">
                  <a:lumMod val="10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22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6AC7705-11B4-24F6-0342-029B2F1A59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04" imgH="405" progId="TCLayout.ActiveDocument.1">
                  <p:embed/>
                </p:oleObj>
              </mc:Choice>
              <mc:Fallback>
                <p:oleObj name="think-cell 슬라이드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AC7705-11B4-24F6-0342-029B2F1A59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33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1094534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3277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CED35-8F4E-66FA-99E8-781F8E230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0C4843-6D02-0247-4DFF-F431EE22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D2D0D-DF1D-B38E-D340-BF019B81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4DA7-71AC-9645-9DBA-B602BE83BCA4}" type="datetimeFigureOut">
              <a:rPr kumimoji="1" lang="ko-KR" altLang="en-US" smtClean="0"/>
              <a:t>2026. 6. 22.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4E364-D706-3ED1-EEBD-7BBDA8CF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364E2-06B6-9F43-9C97-CCA5415C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DC27-F0E4-4646-8443-3C7EDA1162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22503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32865873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312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B59AC3B3-1AD7-2701-EEED-FD3EFA49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2" y="156568"/>
            <a:ext cx="11520000" cy="360000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 algn="l" defTabSz="914400" rtl="0" eaLnBrk="1" latinLnBrk="0" hangingPunct="0">
              <a:lnSpc>
                <a:spcPct val="100000"/>
              </a:lnSpc>
              <a:spcBef>
                <a:spcPct val="0"/>
              </a:spcBef>
              <a:buNone/>
              <a:defRPr lang="en-US" sz="1800" b="1" kern="1200" dirty="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2416981E-2E6F-0D84-E05D-D932FF516E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00" y="6381750"/>
            <a:ext cx="11520000" cy="252000"/>
          </a:xfrm>
          <a:prstGeom prst="rect">
            <a:avLst/>
          </a:prstGeom>
          <a:solidFill>
            <a:schemeClr val="bg1"/>
          </a:solidFill>
        </p:spPr>
        <p:txBody>
          <a:bodyPr lIns="36000" tIns="0" rIns="36000" bIns="0" anchor="t">
            <a:noAutofit/>
          </a:bodyPr>
          <a:lstStyle>
            <a:lvl1pPr latinLnBrk="0">
              <a:defRPr lang="en-US" altLang="ko-KR" sz="800" b="0" kern="1200" dirty="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lvl="0" defTabSz="914400"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/>
              <a:t>각주 </a:t>
            </a:r>
            <a:r>
              <a:rPr lang="en-US" altLang="ko-KR"/>
              <a:t>/ 8pt</a:t>
            </a:r>
          </a:p>
        </p:txBody>
      </p:sp>
      <p:sp>
        <p:nvSpPr>
          <p:cNvPr id="14" name="Content Placeholder 24">
            <a:extLst>
              <a:ext uri="{FF2B5EF4-FFF2-40B4-BE49-F238E27FC236}">
                <a16:creationId xmlns:a16="http://schemas.microsoft.com/office/drawing/2014/main" id="{5B32F67F-E7FE-F85E-5F72-FEE2953C0B3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35362" y="587805"/>
            <a:ext cx="11520000" cy="792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en-US" sz="1600" b="1" kern="12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+mj-lt"/>
                <a:ea typeface="+mn-ea"/>
                <a:cs typeface="Samsung Sharp Sans Medium" pitchFamily="2" charset="0"/>
              </a:defRPr>
            </a:lvl1pPr>
          </a:lstStyle>
          <a:p>
            <a:pPr marL="0" lvl="0" indent="0" algn="l" defTabSz="685594" rtl="0" eaLnBrk="1" latin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Sub-Header (if necessary)</a:t>
            </a:r>
          </a:p>
        </p:txBody>
      </p:sp>
      <p:sp>
        <p:nvSpPr>
          <p:cNvPr id="4" name="모서리가 둥근 직사각형 49">
            <a:extLst>
              <a:ext uri="{FF2B5EF4-FFF2-40B4-BE49-F238E27FC236}">
                <a16:creationId xmlns:a16="http://schemas.microsoft.com/office/drawing/2014/main" id="{5E57CD2D-334A-1099-B141-BF20DD3E8660}"/>
              </a:ext>
            </a:extLst>
          </p:cNvPr>
          <p:cNvSpPr/>
          <p:nvPr/>
        </p:nvSpPr>
        <p:spPr bwMode="auto">
          <a:xfrm rot="5400000">
            <a:off x="-535301" y="2477629"/>
            <a:ext cx="456131" cy="286228"/>
          </a:xfrm>
          <a:prstGeom prst="roundRect">
            <a:avLst>
              <a:gd name="adj" fmla="val 0"/>
            </a:avLst>
          </a:prstGeom>
          <a:solidFill>
            <a:schemeClr val="accent5">
              <a:lumMod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49">
            <a:extLst>
              <a:ext uri="{FF2B5EF4-FFF2-40B4-BE49-F238E27FC236}">
                <a16:creationId xmlns:a16="http://schemas.microsoft.com/office/drawing/2014/main" id="{E2BF8DAF-FDC3-81DB-E3D4-458B411AEA86}"/>
              </a:ext>
            </a:extLst>
          </p:cNvPr>
          <p:cNvSpPr/>
          <p:nvPr/>
        </p:nvSpPr>
        <p:spPr bwMode="auto">
          <a:xfrm rot="5400000">
            <a:off x="-535301" y="2979975"/>
            <a:ext cx="456131" cy="286228"/>
          </a:xfrm>
          <a:prstGeom prst="roundRect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" name="모서리가 둥근 직사각형 49">
            <a:extLst>
              <a:ext uri="{FF2B5EF4-FFF2-40B4-BE49-F238E27FC236}">
                <a16:creationId xmlns:a16="http://schemas.microsoft.com/office/drawing/2014/main" id="{065EED8F-4C31-8284-AE60-32C47B662D31}"/>
              </a:ext>
            </a:extLst>
          </p:cNvPr>
          <p:cNvSpPr/>
          <p:nvPr/>
        </p:nvSpPr>
        <p:spPr bwMode="auto">
          <a:xfrm rot="5400000">
            <a:off x="-535301" y="3482321"/>
            <a:ext cx="456131" cy="28622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모서리가 둥근 직사각형 49">
            <a:extLst>
              <a:ext uri="{FF2B5EF4-FFF2-40B4-BE49-F238E27FC236}">
                <a16:creationId xmlns:a16="http://schemas.microsoft.com/office/drawing/2014/main" id="{347D6DD8-FDF8-086A-C2B2-222FFDC59C34}"/>
              </a:ext>
            </a:extLst>
          </p:cNvPr>
          <p:cNvSpPr/>
          <p:nvPr/>
        </p:nvSpPr>
        <p:spPr bwMode="auto">
          <a:xfrm rot="5400000">
            <a:off x="-535301" y="3984667"/>
            <a:ext cx="456131" cy="28622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49">
            <a:extLst>
              <a:ext uri="{FF2B5EF4-FFF2-40B4-BE49-F238E27FC236}">
                <a16:creationId xmlns:a16="http://schemas.microsoft.com/office/drawing/2014/main" id="{37FDDBCA-6DB7-59DF-D4D5-DCE478BFF25A}"/>
              </a:ext>
            </a:extLst>
          </p:cNvPr>
          <p:cNvSpPr/>
          <p:nvPr/>
        </p:nvSpPr>
        <p:spPr bwMode="auto">
          <a:xfrm rot="5400000">
            <a:off x="-535301" y="4487013"/>
            <a:ext cx="456131" cy="286228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0" name="모서리가 둥근 직사각형 49">
            <a:extLst>
              <a:ext uri="{FF2B5EF4-FFF2-40B4-BE49-F238E27FC236}">
                <a16:creationId xmlns:a16="http://schemas.microsoft.com/office/drawing/2014/main" id="{53E797CE-CE54-066E-E2A8-07B2BF64A7E8}"/>
              </a:ext>
            </a:extLst>
          </p:cNvPr>
          <p:cNvSpPr/>
          <p:nvPr/>
        </p:nvSpPr>
        <p:spPr bwMode="auto">
          <a:xfrm rot="5400000">
            <a:off x="-535302" y="1975283"/>
            <a:ext cx="456131" cy="286228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328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4178">
          <p15:clr>
            <a:srgbClr val="FBAE40"/>
          </p15:clr>
        </p15:guide>
        <p15:guide id="7" orient="horz" pos="867">
          <p15:clr>
            <a:srgbClr val="FBAE40"/>
          </p15:clr>
        </p15:guide>
        <p15:guide id="8" orient="horz" pos="935">
          <p15:clr>
            <a:srgbClr val="FBAE40"/>
          </p15:clr>
        </p15:guide>
        <p15:guide id="9" orient="horz" pos="368">
          <p15:clr>
            <a:srgbClr val="FBAE40"/>
          </p15:clr>
        </p15:guide>
        <p15:guide id="10" orient="horz" pos="323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395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188846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latinLnBrk="0" hangingPunct="0">
              <a:spcBef>
                <a:spcPct val="45000"/>
              </a:spcBef>
              <a:defRPr/>
            </a:pPr>
            <a:r>
              <a:rPr kumimoji="0"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kumimoji="0"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spcBef>
                  <a:spcPct val="45000"/>
                </a:spcBef>
                <a:defRPr/>
              </a:pPr>
              <a:t>‹#›</a:t>
            </a:fld>
            <a:endParaRPr kumimoji="0"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9276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4002985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28439137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701587" imgH="6679365" progId="">
                  <p:embed/>
                </p:oleObj>
              </mc:Choice>
              <mc:Fallback>
                <p:oleObj name="Image" r:id="rId2" imgW="5701587" imgH="6679365" progId="">
                  <p:embed/>
                  <p:pic>
                    <p:nvPicPr>
                      <p:cNvPr id="1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650794" imgH="4749206" progId="">
                  <p:embed/>
                </p:oleObj>
              </mc:Choice>
              <mc:Fallback>
                <p:oleObj name="Image" r:id="rId4" imgW="5650794" imgH="4749206" progId="">
                  <p:embed/>
                  <p:pic>
                    <p:nvPicPr>
                      <p:cNvPr id="1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5066052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3857161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5957" indent="-215957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3935" indent="-107978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7906" indent="-90470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41505795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8617" y="2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09" tIns="45705" rIns="91409" bIns="4570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4" name="Object 20"/>
          <p:cNvGraphicFramePr>
            <a:graphicFrameLocks noChangeAspect="1"/>
          </p:cNvGraphicFramePr>
          <p:nvPr/>
        </p:nvGraphicFramePr>
        <p:xfrm>
          <a:off x="3985846" y="2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701587" imgH="6679365" progId="">
                  <p:embed/>
                </p:oleObj>
              </mc:Choice>
              <mc:Fallback>
                <p:oleObj name="Image" r:id="rId2" imgW="5701587" imgH="6679365" progId="">
                  <p:embed/>
                  <p:pic>
                    <p:nvPicPr>
                      <p:cNvPr id="1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2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/>
          <p:cNvGraphicFramePr>
            <a:graphicFrameLocks noChangeAspect="1"/>
          </p:cNvGraphicFramePr>
          <p:nvPr/>
        </p:nvGraphicFramePr>
        <p:xfrm>
          <a:off x="6828693" y="2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650794" imgH="4749206" progId="">
                  <p:embed/>
                </p:oleObj>
              </mc:Choice>
              <mc:Fallback>
                <p:oleObj name="Image" r:id="rId4" imgW="5650794" imgH="4749206" progId="">
                  <p:embed/>
                  <p:pic>
                    <p:nvPicPr>
                      <p:cNvPr id="1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2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54170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6735540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theme" Target="../theme/theme5.xml"/><Relationship Id="rId5" Type="http://schemas.openxmlformats.org/officeDocument/2006/relationships/tags" Target="../tags/tag1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emf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png"/><Relationship Id="rId10" Type="http://schemas.openxmlformats.org/officeDocument/2006/relationships/oleObject" Target="../embeddings/oleObject2.bin"/><Relationship Id="rId11" Type="http://schemas.openxmlformats.org/officeDocument/2006/relationships/image" Target="../media/image2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6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theme" Target="../theme/theme7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1.png"/><Relationship Id="rId8" Type="http://schemas.openxmlformats.org/officeDocument/2006/relationships/oleObject" Target="../embeddings/oleObject2.bin"/><Relationship Id="rId9" Type="http://schemas.openxmlformats.org/officeDocument/2006/relationships/image" Target="../media/image2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theme" Target="../theme/theme8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theme" Target="../theme/theme9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theme" Target="../theme/theme10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theme" Target="../theme/theme1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1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637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701587" imgH="6679365" progId="">
                  <p:embed/>
                </p:oleObj>
              </mc:Choice>
              <mc:Fallback>
                <p:oleObj name="Image" r:id="rId4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650794" imgH="4749206" progId="">
                  <p:embed/>
                </p:oleObj>
              </mc:Choice>
              <mc:Fallback>
                <p:oleObj name="Image" r:id="rId6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698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7" r:id="rId2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40" y="6654552"/>
            <a:ext cx="29660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Tahoma" panose="020B0604030504040204" pitchFamily="34" charset="0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95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74D9A2-7BE2-4A15-BADD-0B2D9F35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1BC64F-B281-4178-8EEE-E932196E6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997A0-ED51-4DE1-9F61-8E19DCAF3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32DAF-6C56-494D-B6D7-340589762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3760B-B00C-45D4-8E2F-8FC4257DA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84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40E29FC-184A-52B1-560B-D43ADE1ADC42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6" imgW="404" imgH="405" progId="TCLayout.ActiveDocument.1">
                  <p:embed/>
                </p:oleObj>
              </mc:Choice>
              <mc:Fallback>
                <p:oleObj name="think-cell 슬라이드" r:id="rId6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0E29FC-184A-52B1-560B-D43ADE1AD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40" y="6654552"/>
            <a:ext cx="29660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5701587" imgH="6679365" progId="">
                  <p:embed/>
                </p:oleObj>
              </mc:Choice>
              <mc:Fallback>
                <p:oleObj name="Image" r:id="rId8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5650794" imgH="4749206" progId="">
                  <p:embed/>
                </p:oleObj>
              </mc:Choice>
              <mc:Fallback>
                <p:oleObj name="Image" r:id="rId10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01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orient="horz" pos="107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701587" imgH="6679365" progId="">
                  <p:embed/>
                </p:oleObj>
              </mc:Choice>
              <mc:Fallback>
                <p:oleObj name="Image" r:id="rId5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5650794" imgH="4749206" progId="">
                  <p:embed/>
                </p:oleObj>
              </mc:Choice>
              <mc:Fallback>
                <p:oleObj name="Image" r:id="rId7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09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706" r:id="rId3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40" y="6654552"/>
            <a:ext cx="29660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Tahoma" panose="020B0604030504040204" pitchFamily="34" charset="0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701587" imgH="6679365" progId="">
                  <p:embed/>
                </p:oleObj>
              </mc:Choice>
              <mc:Fallback>
                <p:oleObj name="Image" r:id="rId6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5650794" imgH="4749206" progId="">
                  <p:embed/>
                </p:oleObj>
              </mc:Choice>
              <mc:Fallback>
                <p:oleObj name="Image" r:id="rId8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260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124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701587" imgH="6679365" progId="">
                  <p:embed/>
                </p:oleObj>
              </mc:Choice>
              <mc:Fallback>
                <p:oleObj name="Image" r:id="rId4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650794" imgH="4749206" progId="">
                  <p:embed/>
                </p:oleObj>
              </mc:Choice>
              <mc:Fallback>
                <p:oleObj name="Image" r:id="rId6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703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54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50" y="6654552"/>
            <a:ext cx="296588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3991" rIns="53991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Tahoma" panose="020B0604030504040204" pitchFamily="34" charset="0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7" y="2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09" tIns="45705" rIns="91409" bIns="4570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2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701587" imgH="6679365" progId="">
                  <p:embed/>
                </p:oleObj>
              </mc:Choice>
              <mc:Fallback>
                <p:oleObj name="Image" r:id="rId4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2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2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650794" imgH="4749206" progId="">
                  <p:embed/>
                </p:oleObj>
              </mc:Choice>
              <mc:Fallback>
                <p:oleObj name="Image" r:id="rId6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2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773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09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17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326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434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31" indent="-34283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199">
          <a:solidFill>
            <a:schemeClr val="tx1"/>
          </a:solidFill>
          <a:latin typeface="+mn-lt"/>
          <a:ea typeface="+mn-ea"/>
          <a:cs typeface="+mn-cs"/>
        </a:defRPr>
      </a:lvl1pPr>
      <a:lvl2pPr marL="742801" indent="-285693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799">
          <a:solidFill>
            <a:schemeClr val="tx1"/>
          </a:solidFill>
          <a:latin typeface="+mn-lt"/>
          <a:ea typeface="+mn-ea"/>
        </a:defRPr>
      </a:lvl2pPr>
      <a:lvl3pPr marL="1142771" indent="-228554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9880" indent="-22855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402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2510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9619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6728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3836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84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>
                <a:solidFill>
                  <a:srgbClr val="000000"/>
                </a:solidFill>
              </a:rPr>
              <a:t>주요 실적_청정 결과 컨설팅 리포트 성능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"/>
            <a:ext cx="4343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500" b="1">
                <a:solidFill>
                  <a:srgbClr val="7F7F7F"/>
                </a:solidFill>
              </a:rPr>
              <a:t>통계 테이블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21792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50" b="1">
                <a:solidFill>
                  <a:srgbClr val="000000"/>
                </a:solidFill>
              </a:rPr>
              <a:t>리포트 조회 시 대용량 이력 테이블 JOIN을 없애고, 7일 통계 테이블을 따로 두어 지연시간을 줄였다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문제 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89888"/>
            <a:ext cx="571500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</a:rPr>
              <a:t>- 컨설팅 리포트가 청정 결과(cleanResult)를 </a:t>
            </a:r>
            <a:r>
              <a:rPr sz="1050" b="1">
                <a:solidFill>
                  <a:srgbClr val="262626"/>
                </a:solidFill>
              </a:rPr>
              <a:t>대용량 이력 테이블과 JOIN</a:t>
            </a:r>
            <a:r>
              <a:rPr sz="1050" b="0">
                <a:solidFill>
                  <a:srgbClr val="262626"/>
                </a:solidFill>
              </a:rPr>
              <a:t>해 조회</a:t>
            </a:r>
          </a:p>
          <a:p>
            <a:pPr algn="l" marL="128016" indent="-128016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</a:rPr>
              <a:t>- 이력 데이터가 쌓일수록 리포트 생성 </a:t>
            </a:r>
            <a:r>
              <a:rPr sz="1050" b="1">
                <a:solidFill>
                  <a:srgbClr val="262626"/>
                </a:solidFill>
              </a:rPr>
              <a:t>지연시간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01168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개선 방식 — 통계 테이블 분리 (4단계)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313432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1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결과 수신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기기 → 서버</a:t>
            </a:r>
          </a:p>
        </p:txBody>
      </p:sp>
      <p:sp>
        <p:nvSpPr>
          <p:cNvPr id="10" name="Chevron 9"/>
          <p:cNvSpPr/>
          <p:nvPr/>
        </p:nvSpPr>
        <p:spPr>
          <a:xfrm>
            <a:off x="1712213" y="2505456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30175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청정·구역청정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결과 메시지 수신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5950" y="2313432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2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통계 적재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HistoryMapper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4115" y="2505456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0230" y="30175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수신 시점에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통계 테이블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7851" y="2313432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3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기간 관리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최근 7일</a:t>
            </a:r>
          </a:p>
        </p:txBody>
      </p:sp>
      <p:sp>
        <p:nvSpPr>
          <p:cNvPr id="16" name="Chevron 15"/>
          <p:cNvSpPr/>
          <p:nvPr/>
        </p:nvSpPr>
        <p:spPr>
          <a:xfrm>
            <a:off x="4716018" y="2505456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2132" y="30175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리포트에 필요한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기간만 유지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9753" y="2313432"/>
            <a:ext cx="1300734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4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리포트 조회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통계 테이블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4033" y="30175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단독 조회로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JOIN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502152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AS-IS / TO-BE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4048" y="3803904"/>
          <a:ext cx="5806440" cy="12435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1560"/>
                <a:gridCol w="2377440"/>
                <a:gridCol w="23774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AS-IS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TO-BE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조회 대상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DCE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대용량 이력 테이블 JOIN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62626"/>
                          </a:solidFill>
                        </a:rPr>
                        <a:t>7일 통계 테이블</a:t>
                      </a:r>
                      <a:r>
                        <a:rPr sz="950" b="0">
                          <a:solidFill>
                            <a:srgbClr val="262626"/>
                          </a:solidFill>
                        </a:rPr>
                        <a:t> 단독 조회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집계 시점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리포트 요청 시마다 집계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결과 수신 시점에 </a:t>
                      </a:r>
                      <a:r>
                        <a:rPr sz="950" b="1">
                          <a:solidFill>
                            <a:srgbClr val="262626"/>
                          </a:solidFill>
                        </a:rPr>
                        <a:t>미리 적재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조회 지연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4048" y="516636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구현 내역 (’26.7)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5458968"/>
            <a:ext cx="57150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ResponseDeviceService: 청정·구역청정 결과 수신 시 통계 적재 호출</a:t>
            </a:r>
          </a:p>
          <a:p>
            <a:pPr algn="l" marL="128016" indent="-128016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HistoryMapper / History.xml: 7일 통계 적재 SQL 추가 (약 150 lines)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09728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리포트 조회 구조 비교 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481328"/>
            <a:ext cx="544068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517904"/>
            <a:ext cx="9144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>
                <a:solidFill>
                  <a:srgbClr val="404040"/>
                </a:solidFill>
              </a:rPr>
              <a:t>AS-IS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874519"/>
            <a:ext cx="1417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262626"/>
                </a:solidFill>
              </a:rPr>
              <a:t>컨설팅 리포트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조회 요청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01000" y="2194560"/>
            <a:ext cx="1325880" cy="0"/>
          </a:xfrm>
          <a:prstGeom prst="line">
            <a:avLst/>
          </a:prstGeom>
          <a:ln w="22225">
            <a:solidFill>
              <a:srgbClr val="C00000"/>
            </a:solidFill>
            <a:tailEnd type="triangle"/>
          </a:ln>
        </p:spPr>
      </p:cxnSp>
      <p:sp>
        <p:nvSpPr>
          <p:cNvPr id="29" name="TextBox 28"/>
          <p:cNvSpPr txBox="1"/>
          <p:nvPr/>
        </p:nvSpPr>
        <p:spPr>
          <a:xfrm>
            <a:off x="8001000" y="1901952"/>
            <a:ext cx="1325880" cy="25603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ctr"/>
            <a:r>
              <a:rPr sz="900" b="1">
                <a:solidFill>
                  <a:srgbClr val="C00000"/>
                </a:solidFill>
              </a:rPr>
              <a:t>요청마다 JOIN</a:t>
            </a:r>
          </a:p>
        </p:txBody>
      </p:sp>
      <p:sp>
        <p:nvSpPr>
          <p:cNvPr id="30" name="Can 29"/>
          <p:cNvSpPr/>
          <p:nvPr/>
        </p:nvSpPr>
        <p:spPr>
          <a:xfrm>
            <a:off x="9326880" y="1783080"/>
            <a:ext cx="1234440" cy="868680"/>
          </a:xfrm>
          <a:prstGeom prst="can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950" b="1">
                <a:solidFill>
                  <a:srgbClr val="262626"/>
                </a:solidFill>
              </a:rPr>
              <a:t>청정 결과 이력</a:t>
            </a:r>
          </a:p>
          <a:p>
            <a:pPr algn="ctr"/>
            <a:r>
              <a:rPr sz="850" b="1">
                <a:solidFill>
                  <a:srgbClr val="C00000"/>
                </a:solidFill>
              </a:rPr>
              <a:t>대용량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ctr"/>
            <a:r>
              <a:rPr sz="1400" b="1">
                <a:solidFill>
                  <a:srgbClr val="404040"/>
                </a:solidFill>
              </a:rPr>
              <a:t>+</a:t>
            </a:r>
          </a:p>
        </p:txBody>
      </p:sp>
      <p:sp>
        <p:nvSpPr>
          <p:cNvPr id="32" name="Can 31"/>
          <p:cNvSpPr/>
          <p:nvPr/>
        </p:nvSpPr>
        <p:spPr>
          <a:xfrm>
            <a:off x="10835640" y="1783080"/>
            <a:ext cx="868680" cy="868680"/>
          </a:xfrm>
          <a:prstGeom prst="can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18288" rIns="18288" tIns="27432" bIns="27432" wrap="square"/>
          <a:lstStyle/>
          <a:p>
            <a:pPr algn="ctr"/>
            <a:r>
              <a:rPr sz="900" b="1">
                <a:solidFill>
                  <a:srgbClr val="262626"/>
                </a:solidFill>
              </a:rPr>
              <a:t>기기·구역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정보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2926080"/>
            <a:ext cx="5440680" cy="18288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962656"/>
            <a:ext cx="9144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00" b="1">
                <a:solidFill>
                  <a:srgbClr val="2D2D8A"/>
                </a:solidFill>
              </a:rPr>
              <a:t>TO-BE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10128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262626"/>
                </a:solidFill>
              </a:rPr>
              <a:t>기기 (A1)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청정 결과 전송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01000" y="3584448"/>
            <a:ext cx="50292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37" name="Rectangle 36"/>
          <p:cNvSpPr/>
          <p:nvPr/>
        </p:nvSpPr>
        <p:spPr>
          <a:xfrm>
            <a:off x="8503920" y="3310128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18288" rIns="18288" tIns="27432" bIns="27432" wrap="square"/>
          <a:lstStyle/>
          <a:p>
            <a:pPr algn="ctr"/>
            <a:r>
              <a:rPr sz="1050" b="1">
                <a:solidFill>
                  <a:srgbClr val="262626"/>
                </a:solidFill>
              </a:rPr>
              <a:t>결과 수신</a:t>
            </a:r>
          </a:p>
          <a:p>
            <a:pPr algn="ctr"/>
            <a:r>
              <a:rPr sz="750" b="0">
                <a:solidFill>
                  <a:srgbClr val="262626"/>
                </a:solidFill>
              </a:rPr>
              <a:t>ResponseDeviceService</a:t>
            </a:r>
          </a:p>
        </p:txBody>
      </p:sp>
      <p:sp>
        <p:nvSpPr>
          <p:cNvPr id="38" name="Oval 37"/>
          <p:cNvSpPr/>
          <p:nvPr/>
        </p:nvSpPr>
        <p:spPr>
          <a:xfrm>
            <a:off x="9848088" y="3200400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66960" y="3474720"/>
            <a:ext cx="411480" cy="0"/>
          </a:xfrm>
          <a:prstGeom prst="line">
            <a:avLst/>
          </a:prstGeom>
          <a:ln w="15875">
            <a:solidFill>
              <a:srgbClr val="808080"/>
            </a:solidFill>
            <a:tailEnd type="triangle"/>
          </a:ln>
        </p:spPr>
      </p:cxnSp>
      <p:sp>
        <p:nvSpPr>
          <p:cNvPr id="40" name="Can 39"/>
          <p:cNvSpPr/>
          <p:nvPr/>
        </p:nvSpPr>
        <p:spPr>
          <a:xfrm>
            <a:off x="10378440" y="3200400"/>
            <a:ext cx="13258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18288" rIns="18288" tIns="27432" bIns="27432" wrap="square"/>
          <a:lstStyle/>
          <a:p>
            <a:pPr algn="ctr"/>
            <a:r>
              <a:rPr sz="900" b="1">
                <a:solidFill>
                  <a:srgbClr val="262626"/>
                </a:solidFill>
              </a:rPr>
              <a:t>이력 테이블</a:t>
            </a:r>
          </a:p>
          <a:p>
            <a:pPr algn="ctr"/>
            <a:r>
              <a:rPr sz="800" b="0">
                <a:solidFill>
                  <a:srgbClr val="262626"/>
                </a:solidFill>
              </a:rPr>
              <a:t>기존 유지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35440" y="3858768"/>
            <a:ext cx="0" cy="210312"/>
          </a:xfrm>
          <a:prstGeom prst="line">
            <a:avLst/>
          </a:prstGeom>
          <a:ln w="19050">
            <a:solidFill>
              <a:srgbClr val="2D2D8A"/>
            </a:solidFill>
            <a:tailEnd type="triangle"/>
          </a:ln>
        </p:spPr>
      </p:cxnSp>
      <p:cxnSp>
        <p:nvCxnSpPr>
          <p:cNvPr id="42" name="Connector 41"/>
          <p:cNvCxnSpPr/>
          <p:nvPr/>
        </p:nvCxnSpPr>
        <p:spPr>
          <a:xfrm>
            <a:off x="9235440" y="4069080"/>
            <a:ext cx="1143000" cy="274320"/>
          </a:xfrm>
          <a:prstGeom prst="line">
            <a:avLst/>
          </a:prstGeom>
          <a:ln w="19050">
            <a:solidFill>
              <a:srgbClr val="2D2D8A"/>
            </a:solidFill>
            <a:tailEnd type="triangle"/>
          </a:ln>
        </p:spPr>
      </p:cxnSp>
      <p:sp>
        <p:nvSpPr>
          <p:cNvPr id="43" name="Can 42"/>
          <p:cNvSpPr/>
          <p:nvPr/>
        </p:nvSpPr>
        <p:spPr>
          <a:xfrm>
            <a:off x="10378440" y="4023360"/>
            <a:ext cx="1325880" cy="640080"/>
          </a:xfrm>
          <a:prstGeom prst="can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18288" rIns="18288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7일 통계 테이블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신규</a:t>
            </a:r>
          </a:p>
        </p:txBody>
      </p:sp>
      <p:sp>
        <p:nvSpPr>
          <p:cNvPr id="44" name="Oval 43"/>
          <p:cNvSpPr/>
          <p:nvPr/>
        </p:nvSpPr>
        <p:spPr>
          <a:xfrm>
            <a:off x="11585448" y="3931920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069080"/>
            <a:ext cx="1417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8A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2D2D8A"/>
                </a:solidFill>
              </a:rPr>
              <a:t>컨설팅 리포트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조회 요청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01000" y="4462272"/>
            <a:ext cx="2377440" cy="0"/>
          </a:xfrm>
          <a:prstGeom prst="line">
            <a:avLst/>
          </a:prstGeom>
          <a:ln w="22225">
            <a:solidFill>
              <a:srgbClr val="2D2D8A"/>
            </a:solidFill>
            <a:tailEnd type="triangle"/>
          </a:ln>
        </p:spPr>
      </p:cxnSp>
      <p:sp>
        <p:nvSpPr>
          <p:cNvPr id="47" name="TextBox 46"/>
          <p:cNvSpPr txBox="1"/>
          <p:nvPr/>
        </p:nvSpPr>
        <p:spPr>
          <a:xfrm>
            <a:off x="8046720" y="4480560"/>
            <a:ext cx="2103120" cy="23774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900" b="1">
                <a:solidFill>
                  <a:srgbClr val="2D2D8A"/>
                </a:solidFill>
              </a:rPr>
              <a:t>단독 조회 (JOIN 없음)</a:t>
            </a:r>
          </a:p>
        </p:txBody>
      </p:sp>
      <p:sp>
        <p:nvSpPr>
          <p:cNvPr id="48" name="Oval 47"/>
          <p:cNvSpPr/>
          <p:nvPr/>
        </p:nvSpPr>
        <p:spPr>
          <a:xfrm>
            <a:off x="7955279" y="3950208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4818888"/>
            <a:ext cx="54406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1">
                <a:solidFill>
                  <a:srgbClr val="C00000"/>
                </a:solidFill>
              </a:rPr>
              <a:t>①</a:t>
            </a:r>
            <a:r>
              <a:rPr sz="950" b="0">
                <a:solidFill>
                  <a:srgbClr val="262626"/>
                </a:solidFill>
              </a:rPr>
              <a:t> 결과 수신 시점에 적재   </a:t>
            </a:r>
            <a:r>
              <a:rPr sz="950" b="1">
                <a:solidFill>
                  <a:srgbClr val="C00000"/>
                </a:solidFill>
              </a:rPr>
              <a:t>②</a:t>
            </a:r>
            <a:r>
              <a:rPr sz="950" b="0">
                <a:solidFill>
                  <a:srgbClr val="262626"/>
                </a:solidFill>
              </a:rPr>
              <a:t> 최근 7일 통계만 유지   </a:t>
            </a:r>
            <a:r>
              <a:rPr sz="950" b="1">
                <a:solidFill>
                  <a:srgbClr val="C00000"/>
                </a:solidFill>
              </a:rPr>
              <a:t>③</a:t>
            </a:r>
            <a:r>
              <a:rPr sz="950" b="0">
                <a:solidFill>
                  <a:srgbClr val="262626"/>
                </a:solidFill>
              </a:rPr>
              <a:t> 리포트는 통계 테이블만 조회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16636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기대 효과 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5513832"/>
            <a:ext cx="1722120" cy="82296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리포트 응답</a:t>
            </a:r>
          </a:p>
          <a:p>
            <a:pPr algn="ctr"/>
            <a:r>
              <a:rPr sz="1250" b="1">
                <a:solidFill>
                  <a:srgbClr val="2D2D8A"/>
                </a:solidFill>
              </a:rPr>
              <a:t>지연시간 감소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14360" y="5513832"/>
            <a:ext cx="172212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DB 부하</a:t>
            </a:r>
          </a:p>
          <a:p>
            <a:pPr algn="ctr"/>
            <a:r>
              <a:rPr sz="1250" b="1">
                <a:solidFill>
                  <a:srgbClr val="2D2D8A"/>
                </a:solidFill>
              </a:rPr>
              <a:t>대용량 JOIN 제거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73640" y="5513832"/>
            <a:ext cx="172212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확장성</a:t>
            </a:r>
          </a:p>
          <a:p>
            <a:pPr algn="ctr"/>
            <a:r>
              <a:rPr sz="1150" b="1">
                <a:solidFill>
                  <a:srgbClr val="2D2D8A"/>
                </a:solidFill>
              </a:rPr>
              <a:t>데이터 누적 영향 최소화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테마1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tIns="90000" bIns="90000" rtlCol="0" anchor="t"/>
      <a:lstStyle>
        <a:defPPr latinLnBrk="0">
          <a:defRPr sz="900" smtClean="0">
            <a:solidFill>
              <a:schemeClr val="tx1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8D91EC4E-EAA5-40D9-A438-A2D3309CEB02}" vid="{FAA6B756-1330-4286-B914-6C4B5365610B}"/>
    </a:ext>
  </a:extLst>
</a:theme>
</file>

<file path=ppt/theme/theme2.xml><?xml version="1.0" encoding="utf-8"?>
<a:theme xmlns:a="http://schemas.openxmlformats.org/drawingml/2006/main" name="16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4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7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1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3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8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2">
      <a:majorFont>
        <a:latin typeface="Tahoma"/>
        <a:ea typeface="웰니스산스"/>
        <a:cs typeface=""/>
      </a:majorFont>
      <a:minorFont>
        <a:latin typeface="웰니스산스"/>
        <a:ea typeface="웰니스산스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9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6E0C04-E99C-AB4E-BF60-1E3E2F781DDB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aacac087-0b6f-4a6d-bdc5-5262c092b46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67</TotalTime>
  <Words>1319</Words>
  <Application>Microsoft Macintosh PowerPoint</Application>
  <PresentationFormat>와이드스크린</PresentationFormat>
  <Paragraphs>226</Paragraphs>
  <Slides>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29" baseType="lpstr">
      <vt:lpstr>HY견고딕</vt:lpstr>
      <vt:lpstr>Tahoma</vt:lpstr>
      <vt:lpstr>굴림</vt:lpstr>
      <vt:lpstr>Trebuchet MS</vt:lpstr>
      <vt:lpstr>맑은 고딕</vt:lpstr>
      <vt:lpstr>Arial</vt:lpstr>
      <vt:lpstr>Wingdings</vt:lpstr>
      <vt:lpstr>테마1</vt:lpstr>
      <vt:lpstr>16_기본 디자인</vt:lpstr>
      <vt:lpstr>10_기본 디자인</vt:lpstr>
      <vt:lpstr>디자인 사용자 지정</vt:lpstr>
      <vt:lpstr>14_기본 디자인</vt:lpstr>
      <vt:lpstr>17_기본 디자인</vt:lpstr>
      <vt:lpstr>11_기본 디자인</vt:lpstr>
      <vt:lpstr>12_기본 디자인</vt:lpstr>
      <vt:lpstr>13_기본 디자인</vt:lpstr>
      <vt:lpstr>15_기본 디자인</vt:lpstr>
      <vt:lpstr>18_기본 디자인</vt:lpstr>
      <vt:lpstr>19_기본 디자인</vt:lpstr>
      <vt:lpstr>Image</vt:lpstr>
      <vt:lpstr>think-cell 슬라이드</vt:lpstr>
      <vt:lpstr>쉽지않다 제목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영호 허</dc:creator>
  <cp:lastModifiedBy>영호 허</cp:lastModifiedBy>
  <cp:revision>3</cp:revision>
  <dcterms:created xsi:type="dcterms:W3CDTF">2026-06-22T05:49:07Z</dcterms:created>
  <dcterms:modified xsi:type="dcterms:W3CDTF">2026-06-22T07:32:12Z</dcterms:modified>
</cp:coreProperties>
</file>